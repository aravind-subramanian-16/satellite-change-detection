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talk is about a failure mode that aggregate benchmark scores hide: a change detector that looks strong at half a metre and almost stops detecting by two metres. This is a case study of one frozen checkpoint, not a new model, and not a claim that all CNNs fail. I will show a controlled degradation experiment on 2,048 aerial test pairs, a transfer evaluation on ten Sentinel-2 cities, and the limits of both. The question is narrow: what happens to a validated score when the input resolution changes? Please hold two questions: what is actually validated here, and what evidence would change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point is a mismatch of pixel support. The checkpoint was trained and scored on LEVIR-CD, which is half-metre aerial imagery. Sentinel-2 gives us ten-metre and twenty-metre bands, free and frequently revisited. Ten metres is twenty times coarser per side than half a metre, and four hundred times the area. On this diagram, the large square is one Sentinel-2 pixel; the orange square is one LEVIR-CD pixel, drawn to scale. At that size, small buildings, road edges and boundaries become sub-pixel or mixed. That is not a cosmetic difference. The question is whether a model validated on the fine grid still works when the input is coarsened. The paper does not assume the answer; it measures the same checkpoint under a controlled transform.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design. Two evaluations, one frozen checkpoint, no retraining. On the left, the 2,048 LEVIR-CD test pairs at six factors from one to twenty. On the right, the ten official OSCD test cities: 3,077,936 pixels, 5.17 percent labelled change. The CNN weights are zero-shot on OSCD; the spectral rules are train-selected reference points, not a proposed solution. One architecture, one training run, threshold fixed at 0.5 throughout. That scope is deliberate. This is a case study of a deployed checkpoint, not an architecture comparison, and I will not generalise from one model to all CNNs.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degradation protocol is simple and reproducible. Start with a 256 by 256 pair. Blur with a Gaussian whose radius is the factor divided by two. Downsample with LANCZOS to 256 over the factor, squared. Upsample back to 256. At factor twenty, the intermediate is only twelve by twelve pixels. Factors one, two, four, eight, sixteen and twenty map to half a metre through ten metres. Then ImageNet normalization, a fixed 0.5 threshold, and pooled true positives, false positives and false negatives over all 2,048 pairs. The blur and resampling isolate the effect of pixel support. They do not simulate Sentinel-2 spectra, atmosphere, mixed-pixel physics or noise. I will come back to that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main result. At half a metre, pooled F1 is 87.06 percent. At one metre it is 70.81, a drop of 16.25 points. At two metres it is 4.41 percent. From eight to ten metres it is 2.61. The dashed line is recall: 85.36 percent at native resolution, 57.01 at one metre, 2.26 at two metres, and 1.32 at eight to ten. The decline is recall-dominated. Precision actually rises, from 88.8 percent at native resolution to 99.5 percent at ten metres. So the model is not becoming noisy; it is becoming silent. That is why the next slide matters more than the F1 number alone.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ten metres the model predicts 91,006 pixels changed out of 134,217,728. That is 0.068 percent. 924 of the 935 images that actually contain change receive no predicted change at all, which is 98.82 percent. Precision is 99.47 percent, but it comes from 90,527 true positives and only 479 false positives. A precision-only summary would call this excellent; a recall or predicted-fraction summary exposes that the mask is almost empty. This is the central reporting lesson: precision is not interpretable without prevalence and predicted fraction. The paper therefore reports all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Sentinel-2 evaluation. OSCD, ten official test cities, 3,077,936 pixels, 5.17 percent true change. The percentile rule has the best pooled F1 among the spectral rules, 0.1176, with a city-bootstrap interval from 0.054 to 0.180. The hardcoded NDVI/NDBI rule is 0.0782, interval 0.017 to 0.185. Those intervals overlap, and the paired difference interval includes zero, so I do not rank them. Otsu predicts 67.35 percent of pixels changed; its headline is overall accuracy 0.3439, not F1. The CNN is near empty: F1 0.0007 for joint-percentile preprocessing, which was chosen on the training cities, and 0.0000 for reflectance. One disclosure is essential: these ten cities had been scored before the reported run. These are descriptive scores, not an independent test, and the paper says so.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Pooled numbers hide the city variation. Percentile F1 ranges from 0.0005 in saclay_w to 0.2481 in chongqing. Hardcoded ranges from 0.0032 in dubai to 0.3102 in chongqing. The random-at-prevalence F1 is 0.0517, shown as the dotted line; many city values sit near or below it. The CNN predicts nothing in eight of ten cities. These are descriptive ranges from ten cities. The intervals resample cities or pixels; neither includes training or threshold-selection uncertainty. So the pooled score is a summary, not a stable estimate of how the tool will behave in a new city.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this mean in practice? Start with the resolution path you will deploy. A native-resolution benchmark score does not reveal a coarse-resolution failure; if the product runs on ten-metre data, the evaluation should too. Second, report precision with predicted fraction and prevalence. A near-empty mask can look nearly perfect. Third, do not treat simple spectral indices as a validated fallback. The percentile rule is the best of the spectral options here, but it under-predicts change, and Otsu predicts two thirds of pixels as changed. The paper identifies an evaluation risk. It does not explain the real Sentinel-2 gap or propose a new detector.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limits matter. One architecture and one training run; no retraining, fine-tuning or seed variation. The degradation is synthetic: no Sentinel-2 spectra, atmosphere, mixed-pixel physics or noise. The OSCD evaluation uses real data, but it confounds resolution with sensor, geography and season, and the benchmark layout has no SCL, so clouds are uncontrolled. Ten cities, and the test split had been scored before the reported run. Finally, the deployed application, its scene selection and its interface are not validated end to end. So: no causal claim about the real Sentinel-2 gap, no priority claim, no operational claim. What remains is descriptive evidence of an evaluation risk.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would change the conclusion? A second architecture and checkpoint, with multiple seeds. Real acquisitions of the same scenes at multiple resolutions, rather than synthetic resampling. An untouched city set or a new dataset. An SCL-preserving benchmark and a wider threshold grid. And an operator study on whether warnings actually change decisions. These are evidence needs, not results; none of them is in the paper. If you take one thing for your own evaluation practice, prioritise these two: test the deployed path, and do not reuse a test split.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a half-metre score is not a ten-metre validation. F1 fell from 87.06 to 4.41 percent by two metres under blur and resampling. At ten metres, 0.068 percent of pixels were predicted changed, and 924 of 935 changed images were empty. On real OSCD, the CNN F1 was 0.0007, the spectral rules were 0.078 to 0.118, and neither is a validated fallback. The paper reports these limits explicitly. The evidence is saved, the code and figures are in the artifact, and citations are still being verified.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6949440" cy="320040"/>
          </a:xfrm>
          <a:prstGeom prst="rect">
            <a:avLst/>
          </a:prstGeom>
          <a:noFill/>
        </p:spPr>
        <p:txBody>
          <a:bodyPr wrap="square" lIns="0" rIns="0" tIns="0" bIns="0" anchor="t">
            <a:spAutoFit/>
          </a:bodyPr>
          <a:lstStyle/>
          <a:p>
            <a:pPr algn="l">
              <a:lnSpc>
                <a:spcPct val="100000"/>
              </a:lnSpc>
            </a:pPr>
            <a:r>
              <a:rPr sz="1200" b="1">
                <a:solidFill>
                  <a:srgbClr val="C55A11"/>
                </a:solidFill>
                <a:latin typeface="Arial"/>
              </a:rPr>
              <a:t>EMPIRICAL CASE STUDY  ·  10-MINUTE TALK</a:t>
            </a:r>
          </a:p>
        </p:txBody>
      </p:sp>
      <p:sp>
        <p:nvSpPr>
          <p:cNvPr id="4" name="TextBox 3"/>
          <p:cNvSpPr txBox="1"/>
          <p:nvPr/>
        </p:nvSpPr>
        <p:spPr>
          <a:xfrm>
            <a:off x="731520" y="1143000"/>
            <a:ext cx="6766560" cy="2011680"/>
          </a:xfrm>
          <a:prstGeom prst="rect">
            <a:avLst/>
          </a:prstGeom>
          <a:noFill/>
        </p:spPr>
        <p:txBody>
          <a:bodyPr wrap="square" lIns="0" rIns="0" tIns="0" bIns="0" anchor="t">
            <a:spAutoFit/>
          </a:bodyPr>
          <a:lstStyle/>
          <a:p>
            <a:pPr algn="l">
              <a:lnSpc>
                <a:spcPct val="95000"/>
              </a:lnSpc>
            </a:pPr>
            <a:r>
              <a:rPr sz="3700" b="1">
                <a:solidFill>
                  <a:srgbClr val="1F3864"/>
                </a:solidFill>
                <a:latin typeface="Arial"/>
              </a:rPr>
              <a:t>Resolution-Induced Performance Collapse of a CNN Change Detector</a:t>
            </a:r>
          </a:p>
        </p:txBody>
      </p:sp>
      <p:sp>
        <p:nvSpPr>
          <p:cNvPr id="5" name="TextBox 4"/>
          <p:cNvSpPr txBox="1"/>
          <p:nvPr/>
        </p:nvSpPr>
        <p:spPr>
          <a:xfrm>
            <a:off x="731520" y="3337560"/>
            <a:ext cx="6492240" cy="914400"/>
          </a:xfrm>
          <a:prstGeom prst="rect">
            <a:avLst/>
          </a:prstGeom>
          <a:noFill/>
        </p:spPr>
        <p:txBody>
          <a:bodyPr wrap="square" lIns="0" rIns="0" tIns="0" bIns="0" anchor="t">
            <a:spAutoFit/>
          </a:bodyPr>
          <a:lstStyle/>
          <a:p>
            <a:pPr algn="l">
              <a:lnSpc>
                <a:spcPct val="105000"/>
              </a:lnSpc>
            </a:pPr>
            <a:r>
              <a:rPr sz="2000" b="0">
                <a:solidFill>
                  <a:srgbClr val="595959"/>
                </a:solidFill>
                <a:latin typeface="Arial"/>
              </a:rPr>
              <a:t>Simulated and real Sentinel-2 evidence from one frozen checkpoint</a:t>
            </a:r>
          </a:p>
        </p:txBody>
      </p:sp>
      <p:sp>
        <p:nvSpPr>
          <p:cNvPr id="6" name="TextBox 5"/>
          <p:cNvSpPr txBox="1"/>
          <p:nvPr/>
        </p:nvSpPr>
        <p:spPr>
          <a:xfrm>
            <a:off x="731520" y="4526280"/>
            <a:ext cx="5669280" cy="365760"/>
          </a:xfrm>
          <a:prstGeom prst="rect">
            <a:avLst/>
          </a:prstGeom>
          <a:noFill/>
        </p:spPr>
        <p:txBody>
          <a:bodyPr wrap="square" lIns="0" rIns="0" tIns="0" bIns="0" anchor="t">
            <a:spAutoFit/>
          </a:bodyPr>
          <a:lstStyle/>
          <a:p>
            <a:pPr algn="l">
              <a:lnSpc>
                <a:spcPct val="100000"/>
              </a:lnSpc>
            </a:pPr>
            <a:r>
              <a:rPr sz="1700" b="1">
                <a:solidFill>
                  <a:srgbClr val="262626"/>
                </a:solidFill>
                <a:latin typeface="Arial"/>
              </a:rPr>
              <a:t>Aravind</a:t>
            </a:r>
          </a:p>
        </p:txBody>
      </p:sp>
      <p:sp>
        <p:nvSpPr>
          <p:cNvPr id="7" name="TextBox 6"/>
          <p:cNvSpPr txBox="1"/>
          <p:nvPr/>
        </p:nvSpPr>
        <p:spPr>
          <a:xfrm>
            <a:off x="731520" y="4892040"/>
            <a:ext cx="6217920" cy="594360"/>
          </a:xfrm>
          <a:prstGeom prst="rect">
            <a:avLst/>
          </a:prstGeom>
          <a:noFill/>
        </p:spPr>
        <p:txBody>
          <a:bodyPr wrap="square" lIns="0" rIns="0" tIns="0" bIns="0" anchor="t">
            <a:spAutoFit/>
          </a:bodyPr>
          <a:lstStyle/>
          <a:p>
            <a:pPr algn="l">
              <a:lnSpc>
                <a:spcPct val="110000"/>
              </a:lnSpc>
            </a:pPr>
            <a:r>
              <a:rPr sz="1200" b="0">
                <a:solidFill>
                  <a:srgbClr val="595959"/>
                </a:solidFill>
                <a:latin typeface="Arial"/>
              </a:rPr>
              <a:t>Department of Computer Science and Engineering
Presidency University, Bengaluru, India</a:t>
            </a:r>
          </a:p>
        </p:txBody>
      </p:sp>
      <p:sp>
        <p:nvSpPr>
          <p:cNvPr id="8" name="TextBox 7"/>
          <p:cNvSpPr txBox="1"/>
          <p:nvPr/>
        </p:nvSpPr>
        <p:spPr>
          <a:xfrm>
            <a:off x="731520" y="5989320"/>
            <a:ext cx="6400800" cy="320040"/>
          </a:xfrm>
          <a:prstGeom prst="rect">
            <a:avLst/>
          </a:prstGeom>
          <a:noFill/>
        </p:spPr>
        <p:txBody>
          <a:bodyPr wrap="square" lIns="0" rIns="0" tIns="0" bIns="0" anchor="t">
            <a:spAutoFit/>
          </a:bodyPr>
          <a:lstStyle/>
          <a:p>
            <a:pPr algn="l">
              <a:lnSpc>
                <a:spcPct val="100000"/>
              </a:lnSpc>
            </a:pPr>
            <a:r>
              <a:rPr sz="1000" b="0">
                <a:solidFill>
                  <a:srgbClr val="7F7F7F"/>
                </a:solidFill>
                <a:latin typeface="Arial"/>
              </a:rPr>
              <a:t>Draft talk  ·  figures generated from saved results  ·  citations pending</a:t>
            </a:r>
          </a:p>
        </p:txBody>
      </p:sp>
      <p:sp>
        <p:nvSpPr>
          <p:cNvPr id="9" name="Rounded Rectangle 8"/>
          <p:cNvSpPr/>
          <p:nvPr/>
        </p:nvSpPr>
        <p:spPr>
          <a:xfrm>
            <a:off x="7909560" y="1325880"/>
            <a:ext cx="3657600" cy="416052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91640"/>
            <a:ext cx="2926080" cy="274320"/>
          </a:xfrm>
          <a:prstGeom prst="rect">
            <a:avLst/>
          </a:prstGeom>
          <a:noFill/>
        </p:spPr>
        <p:txBody>
          <a:bodyPr wrap="square" lIns="0" rIns="0" tIns="0" bIns="0" anchor="t">
            <a:spAutoFit/>
          </a:bodyPr>
          <a:lstStyle/>
          <a:p>
            <a:pPr algn="l">
              <a:lnSpc>
                <a:spcPct val="100000"/>
              </a:lnSpc>
            </a:pPr>
            <a:r>
              <a:rPr sz="1200" b="1">
                <a:solidFill>
                  <a:srgbClr val="2E75B6"/>
                </a:solidFill>
                <a:latin typeface="Arial"/>
              </a:rPr>
              <a:t>POOLED F1 (%)</a:t>
            </a:r>
          </a:p>
        </p:txBody>
      </p:sp>
      <p:sp>
        <p:nvSpPr>
          <p:cNvPr id="11" name="TextBox 10"/>
          <p:cNvSpPr txBox="1"/>
          <p:nvPr/>
        </p:nvSpPr>
        <p:spPr>
          <a:xfrm>
            <a:off x="8275320" y="1965960"/>
            <a:ext cx="2926080" cy="914400"/>
          </a:xfrm>
          <a:prstGeom prst="rect">
            <a:avLst/>
          </a:prstGeom>
          <a:noFill/>
        </p:spPr>
        <p:txBody>
          <a:bodyPr wrap="square" lIns="0" rIns="0" tIns="0" bIns="0" anchor="t">
            <a:spAutoFit/>
          </a:bodyPr>
          <a:lstStyle/>
          <a:p>
            <a:pPr algn="l">
              <a:lnSpc>
                <a:spcPct val="100000"/>
              </a:lnSpc>
            </a:pPr>
            <a:r>
              <a:rPr sz="5400" b="1">
                <a:solidFill>
                  <a:srgbClr val="2E75B6"/>
                </a:solidFill>
                <a:latin typeface="Arial"/>
              </a:rPr>
              <a:t>87.06</a:t>
            </a:r>
          </a:p>
        </p:txBody>
      </p:sp>
      <p:sp>
        <p:nvSpPr>
          <p:cNvPr id="12" name="TextBox 11"/>
          <p:cNvSpPr txBox="1"/>
          <p:nvPr/>
        </p:nvSpPr>
        <p:spPr>
          <a:xfrm>
            <a:off x="8275320" y="2880360"/>
            <a:ext cx="2926080" cy="731520"/>
          </a:xfrm>
          <a:prstGeom prst="rect">
            <a:avLst/>
          </a:prstGeom>
          <a:noFill/>
        </p:spPr>
        <p:txBody>
          <a:bodyPr wrap="square" lIns="0" rIns="0" tIns="0" bIns="0" anchor="t">
            <a:spAutoFit/>
          </a:bodyPr>
          <a:lstStyle/>
          <a:p>
            <a:pPr algn="l">
              <a:lnSpc>
                <a:spcPct val="100000"/>
              </a:lnSpc>
            </a:pPr>
            <a:r>
              <a:rPr sz="3600" b="1">
                <a:solidFill>
                  <a:srgbClr val="C55A11"/>
                </a:solidFill>
                <a:latin typeface="Arial"/>
              </a:rPr>
              <a:t>→  4.41</a:t>
            </a:r>
          </a:p>
        </p:txBody>
      </p:sp>
      <p:sp>
        <p:nvSpPr>
          <p:cNvPr id="13" name="TextBox 12"/>
          <p:cNvSpPr txBox="1"/>
          <p:nvPr/>
        </p:nvSpPr>
        <p:spPr>
          <a:xfrm>
            <a:off x="8275320" y="3703320"/>
            <a:ext cx="2926080" cy="320040"/>
          </a:xfrm>
          <a:prstGeom prst="rect">
            <a:avLst/>
          </a:prstGeom>
          <a:noFill/>
        </p:spPr>
        <p:txBody>
          <a:bodyPr wrap="square" lIns="0" rIns="0" tIns="0" bIns="0" anchor="t">
            <a:spAutoFit/>
          </a:bodyPr>
          <a:lstStyle/>
          <a:p>
            <a:pPr algn="l">
              <a:lnSpc>
                <a:spcPct val="100000"/>
              </a:lnSpc>
            </a:pPr>
            <a:r>
              <a:rPr sz="1300" b="1">
                <a:solidFill>
                  <a:srgbClr val="262626"/>
                </a:solidFill>
                <a:latin typeface="Arial"/>
              </a:rPr>
              <a:t>0.5 m  →  2 m simulated</a:t>
            </a:r>
          </a:p>
        </p:txBody>
      </p:sp>
      <p:sp>
        <p:nvSpPr>
          <p:cNvPr id="14" name="TextBox 13"/>
          <p:cNvSpPr txBox="1"/>
          <p:nvPr/>
        </p:nvSpPr>
        <p:spPr>
          <a:xfrm>
            <a:off x="8275320" y="4206240"/>
            <a:ext cx="2834640" cy="822960"/>
          </a:xfrm>
          <a:prstGeom prst="rect">
            <a:avLst/>
          </a:prstGeom>
          <a:noFill/>
        </p:spPr>
        <p:txBody>
          <a:bodyPr wrap="square" lIns="0" rIns="0" tIns="0" bIns="0" anchor="t">
            <a:spAutoFit/>
          </a:bodyPr>
          <a:lstStyle/>
          <a:p>
            <a:pPr algn="l">
              <a:lnSpc>
                <a:spcPct val="120000"/>
              </a:lnSpc>
            </a:pPr>
            <a:r>
              <a:rPr sz="1100" b="0">
                <a:solidFill>
                  <a:srgbClr val="595959"/>
                </a:solidFill>
                <a:latin typeface="Arial"/>
              </a:rPr>
              <a:t>2,048 LEVIR-CD test pairs
One frozen checkpoint</a:t>
            </a:r>
          </a:p>
        </p:txBody>
      </p:sp>
      <p:sp>
        <p:nvSpPr>
          <p:cNvPr id="15" name="Rectangle 14"/>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7" name="TextBox 16"/>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THE PROBLEM</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3000" b="1">
                <a:solidFill>
                  <a:srgbClr val="1F3864"/>
                </a:solidFill>
                <a:latin typeface="Arial"/>
              </a:rPr>
              <a:t>A native-resolution score does not travel to 10 m</a:t>
            </a:r>
          </a:p>
        </p:txBody>
      </p:sp>
      <p:sp>
        <p:nvSpPr>
          <p:cNvPr id="5" name="TextBox 4"/>
          <p:cNvSpPr txBox="1"/>
          <p:nvPr/>
        </p:nvSpPr>
        <p:spPr>
          <a:xfrm>
            <a:off x="731520" y="1600200"/>
            <a:ext cx="5943600" cy="4023360"/>
          </a:xfrm>
          <a:prstGeom prst="rect">
            <a:avLst/>
          </a:prstGeom>
          <a:noFill/>
        </p:spPr>
        <p:txBody>
          <a:bodyPr wrap="square" lIns="0" rIns="0" tIns="0" bIns="0">
            <a:spAutoFit/>
          </a:bodyPr>
          <a:lstStyle/>
          <a:p>
            <a:pPr>
              <a:lnSpc>
                <a:spcPct val="105000"/>
              </a:lnSpc>
              <a:spcAft>
                <a:spcPts val="1800"/>
              </a:spcAft>
            </a:pPr>
            <a:r>
              <a:rPr sz="1900" b="1">
                <a:solidFill>
                  <a:srgbClr val="2E75B6"/>
                </a:solidFill>
                <a:latin typeface="Arial"/>
              </a:rPr>
              <a:t>•  </a:t>
            </a:r>
            <a:r>
              <a:rPr sz="1900">
                <a:solidFill>
                  <a:srgbClr val="262626"/>
                </a:solidFill>
                <a:latin typeface="Arial"/>
              </a:rPr>
              <a:t>The checkpoint is trained and scored at 0.5 m on LEVIR-CD aerial pairs.</a:t>
            </a:r>
          </a:p>
          <a:p>
            <a:pPr>
              <a:lnSpc>
                <a:spcPct val="105000"/>
              </a:lnSpc>
              <a:spcAft>
                <a:spcPts val="1800"/>
              </a:spcAft>
            </a:pPr>
            <a:r>
              <a:rPr sz="1900" b="1">
                <a:solidFill>
                  <a:srgbClr val="2E75B6"/>
                </a:solidFill>
                <a:latin typeface="Arial"/>
              </a:rPr>
              <a:t>•  </a:t>
            </a:r>
            <a:r>
              <a:rPr sz="1900">
                <a:solidFill>
                  <a:srgbClr val="262626"/>
                </a:solidFill>
                <a:latin typeface="Arial"/>
              </a:rPr>
              <a:t>Sentinel-2 provides 10 m and 20 m bands, free and frequently revisited.</a:t>
            </a:r>
          </a:p>
          <a:p>
            <a:pPr>
              <a:lnSpc>
                <a:spcPct val="105000"/>
              </a:lnSpc>
              <a:spcAft>
                <a:spcPts val="1800"/>
              </a:spcAft>
            </a:pPr>
            <a:r>
              <a:rPr sz="1900" b="1">
                <a:solidFill>
                  <a:srgbClr val="2E75B6"/>
                </a:solidFill>
                <a:latin typeface="Arial"/>
              </a:rPr>
              <a:t>•  </a:t>
            </a:r>
            <a:r>
              <a:rPr sz="1900">
                <a:solidFill>
                  <a:srgbClr val="262626"/>
                </a:solidFill>
                <a:latin typeface="Arial"/>
              </a:rPr>
              <a:t>Same model, coarser pixel support: small objects, boundaries and mixed pixels change.</a:t>
            </a:r>
          </a:p>
          <a:p>
            <a:pPr>
              <a:lnSpc>
                <a:spcPct val="105000"/>
              </a:lnSpc>
              <a:spcAft>
                <a:spcPts val="1800"/>
              </a:spcAft>
            </a:pPr>
            <a:r>
              <a:rPr sz="1900" b="1">
                <a:solidFill>
                  <a:srgbClr val="2E75B6"/>
                </a:solidFill>
                <a:latin typeface="Arial"/>
              </a:rPr>
              <a:t>•  </a:t>
            </a:r>
            <a:r>
              <a:rPr sz="1900">
                <a:solidFill>
                  <a:srgbClr val="262626"/>
                </a:solidFill>
                <a:latin typeface="Arial"/>
              </a:rPr>
              <a:t>Question: what happens to this checkpoint when the same scenes are coarsened?</a:t>
            </a:r>
          </a:p>
        </p:txBody>
      </p:sp>
      <p:sp>
        <p:nvSpPr>
          <p:cNvPr id="6" name="Rounded Rectangle 5"/>
          <p:cNvSpPr/>
          <p:nvPr/>
        </p:nvSpPr>
        <p:spPr>
          <a:xfrm>
            <a:off x="6995160" y="1645920"/>
            <a:ext cx="4617720" cy="425196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0" y="1828800"/>
            <a:ext cx="3931920" cy="274320"/>
          </a:xfrm>
          <a:prstGeom prst="rect">
            <a:avLst/>
          </a:prstGeom>
          <a:noFill/>
        </p:spPr>
        <p:txBody>
          <a:bodyPr wrap="square" lIns="0" rIns="0" tIns="0" bIns="0" anchor="t">
            <a:spAutoFit/>
          </a:bodyPr>
          <a:lstStyle/>
          <a:p>
            <a:pPr algn="l">
              <a:lnSpc>
                <a:spcPct val="100000"/>
              </a:lnSpc>
            </a:pPr>
            <a:r>
              <a:rPr sz="1100" b="1">
                <a:solidFill>
                  <a:srgbClr val="2E75B6"/>
                </a:solidFill>
                <a:latin typeface="Arial"/>
              </a:rPr>
              <a:t>PIXEL FOOTPRINT, TO SCALE</a:t>
            </a:r>
          </a:p>
        </p:txBody>
      </p:sp>
      <p:sp>
        <p:nvSpPr>
          <p:cNvPr id="8" name="Rectangle 7"/>
          <p:cNvSpPr/>
          <p:nvPr/>
        </p:nvSpPr>
        <p:spPr>
          <a:xfrm>
            <a:off x="7360920" y="2240280"/>
            <a:ext cx="2011680" cy="2011680"/>
          </a:xfrm>
          <a:prstGeom prst="rect">
            <a:avLst/>
          </a:prstGeom>
          <a:solidFill>
            <a:srgbClr val="D9E2F3"/>
          </a:solidFill>
          <a:ln w="1524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66760" y="3246120"/>
            <a:ext cx="100584" cy="1005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2423160"/>
            <a:ext cx="1828800" cy="685800"/>
          </a:xfrm>
          <a:prstGeom prst="rect">
            <a:avLst/>
          </a:prstGeom>
          <a:noFill/>
        </p:spPr>
        <p:txBody>
          <a:bodyPr wrap="square" lIns="0" rIns="0" tIns="0" bIns="0" anchor="t">
            <a:spAutoFit/>
          </a:bodyPr>
          <a:lstStyle/>
          <a:p>
            <a:pPr algn="l">
              <a:lnSpc>
                <a:spcPct val="110000"/>
              </a:lnSpc>
            </a:pPr>
            <a:r>
              <a:rPr sz="1400" b="1">
                <a:solidFill>
                  <a:srgbClr val="262626"/>
                </a:solidFill>
                <a:latin typeface="Arial"/>
              </a:rPr>
              <a:t>10 m
Sentinel-2 pixel</a:t>
            </a:r>
          </a:p>
        </p:txBody>
      </p:sp>
      <p:sp>
        <p:nvSpPr>
          <p:cNvPr id="11" name="TextBox 10"/>
          <p:cNvSpPr txBox="1"/>
          <p:nvPr/>
        </p:nvSpPr>
        <p:spPr>
          <a:xfrm>
            <a:off x="9601200" y="3291840"/>
            <a:ext cx="1783080" cy="731520"/>
          </a:xfrm>
          <a:prstGeom prst="rect">
            <a:avLst/>
          </a:prstGeom>
          <a:noFill/>
        </p:spPr>
        <p:txBody>
          <a:bodyPr wrap="square" lIns="0" rIns="0" tIns="0" bIns="0" anchor="t">
            <a:spAutoFit/>
          </a:bodyPr>
          <a:lstStyle/>
          <a:p>
            <a:pPr algn="l">
              <a:lnSpc>
                <a:spcPct val="110000"/>
              </a:lnSpc>
            </a:pPr>
            <a:r>
              <a:rPr sz="1100" b="0">
                <a:solidFill>
                  <a:srgbClr val="595959"/>
                </a:solidFill>
                <a:latin typeface="Arial"/>
              </a:rPr>
              <a:t>0.5 m LEVIR-CD pixel
(orange square)</a:t>
            </a:r>
          </a:p>
        </p:txBody>
      </p:sp>
      <p:sp>
        <p:nvSpPr>
          <p:cNvPr id="12" name="TextBox 11"/>
          <p:cNvSpPr txBox="1"/>
          <p:nvPr/>
        </p:nvSpPr>
        <p:spPr>
          <a:xfrm>
            <a:off x="7315200" y="4434840"/>
            <a:ext cx="3931920" cy="365760"/>
          </a:xfrm>
          <a:prstGeom prst="rect">
            <a:avLst/>
          </a:prstGeom>
          <a:noFill/>
        </p:spPr>
        <p:txBody>
          <a:bodyPr wrap="square" lIns="0" rIns="0" tIns="0" bIns="0" anchor="t">
            <a:spAutoFit/>
          </a:bodyPr>
          <a:lstStyle/>
          <a:p>
            <a:pPr algn="l">
              <a:lnSpc>
                <a:spcPct val="100000"/>
              </a:lnSpc>
            </a:pPr>
            <a:r>
              <a:rPr sz="2000" b="1">
                <a:solidFill>
                  <a:srgbClr val="C55A11"/>
                </a:solidFill>
                <a:latin typeface="Arial"/>
              </a:rPr>
              <a:t>20× coarser linearly</a:t>
            </a:r>
          </a:p>
        </p:txBody>
      </p:sp>
      <p:sp>
        <p:nvSpPr>
          <p:cNvPr id="13" name="TextBox 12"/>
          <p:cNvSpPr txBox="1"/>
          <p:nvPr/>
        </p:nvSpPr>
        <p:spPr>
          <a:xfrm>
            <a:off x="7315200" y="4773168"/>
            <a:ext cx="3931920" cy="274320"/>
          </a:xfrm>
          <a:prstGeom prst="rect">
            <a:avLst/>
          </a:prstGeom>
          <a:noFill/>
        </p:spPr>
        <p:txBody>
          <a:bodyPr wrap="square" lIns="0" rIns="0" tIns="0" bIns="0" anchor="t">
            <a:spAutoFit/>
          </a:bodyPr>
          <a:lstStyle/>
          <a:p>
            <a:pPr algn="l">
              <a:lnSpc>
                <a:spcPct val="100000"/>
              </a:lnSpc>
            </a:pPr>
            <a:r>
              <a:rPr sz="1400" b="1">
                <a:solidFill>
                  <a:srgbClr val="1F3864"/>
                </a:solidFill>
                <a:latin typeface="Arial"/>
              </a:rPr>
              <a:t>400× the area per pixel</a:t>
            </a:r>
          </a:p>
        </p:txBody>
      </p:sp>
      <p:sp>
        <p:nvSpPr>
          <p:cNvPr id="14" name="TextBox 13"/>
          <p:cNvSpPr txBox="1"/>
          <p:nvPr/>
        </p:nvSpPr>
        <p:spPr>
          <a:xfrm>
            <a:off x="7315200" y="5102352"/>
            <a:ext cx="3886200" cy="68580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The orange square is one 0.5 m LEVIR-CD pixel; the full square is one 10 m Sentinel-2 pixel.</a:t>
            </a:r>
          </a:p>
        </p:txBody>
      </p:sp>
      <p:sp>
        <p:nvSpPr>
          <p:cNvPr id="15" name="Rectangle 14"/>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7" name="TextBox 16"/>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DESIGN</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3000" b="1">
                <a:solidFill>
                  <a:srgbClr val="1F3864"/>
                </a:solidFill>
                <a:latin typeface="Arial"/>
              </a:rPr>
              <a:t>One frozen model, two evaluations, no retraining</a:t>
            </a:r>
          </a:p>
        </p:txBody>
      </p:sp>
      <p:sp>
        <p:nvSpPr>
          <p:cNvPr id="5" name="Rounded Rectangle 4"/>
          <p:cNvSpPr/>
          <p:nvPr/>
        </p:nvSpPr>
        <p:spPr>
          <a:xfrm>
            <a:off x="594360" y="1554480"/>
            <a:ext cx="5440680" cy="384048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754880" cy="365760"/>
          </a:xfrm>
          <a:prstGeom prst="rect">
            <a:avLst/>
          </a:prstGeom>
          <a:noFill/>
        </p:spPr>
        <p:txBody>
          <a:bodyPr wrap="square" lIns="0" rIns="0" tIns="0" bIns="0" anchor="t">
            <a:spAutoFit/>
          </a:bodyPr>
          <a:lstStyle/>
          <a:p>
            <a:pPr algn="l">
              <a:lnSpc>
                <a:spcPct val="100000"/>
              </a:lnSpc>
            </a:pPr>
            <a:r>
              <a:rPr sz="2100" b="1">
                <a:solidFill>
                  <a:srgbClr val="2E75B6"/>
                </a:solidFill>
                <a:latin typeface="Arial"/>
              </a:rPr>
              <a:t>Controlled degradation</a:t>
            </a:r>
          </a:p>
        </p:txBody>
      </p:sp>
      <p:sp>
        <p:nvSpPr>
          <p:cNvPr id="7" name="TextBox 6"/>
          <p:cNvSpPr txBox="1"/>
          <p:nvPr/>
        </p:nvSpPr>
        <p:spPr>
          <a:xfrm>
            <a:off x="914400" y="2286000"/>
            <a:ext cx="4754880" cy="2834640"/>
          </a:xfrm>
          <a:prstGeom prst="rect">
            <a:avLst/>
          </a:prstGeom>
          <a:noFill/>
        </p:spPr>
        <p:txBody>
          <a:bodyPr wrap="square" lIns="0" rIns="0" tIns="0" bIns="0">
            <a:spAutoFit/>
          </a:bodyPr>
          <a:lstStyle/>
          <a:p>
            <a:pPr>
              <a:lnSpc>
                <a:spcPct val="105000"/>
              </a:lnSpc>
              <a:spcAft>
                <a:spcPts val="1000"/>
              </a:spcAft>
            </a:pPr>
            <a:r>
              <a:rPr sz="1600" b="1">
                <a:solidFill>
                  <a:srgbClr val="2E75B6"/>
                </a:solidFill>
                <a:latin typeface="Arial"/>
              </a:rPr>
              <a:t>•  </a:t>
            </a:r>
            <a:r>
              <a:rPr sz="1600">
                <a:solidFill>
                  <a:srgbClr val="262626"/>
                </a:solidFill>
                <a:latin typeface="Arial"/>
              </a:rPr>
              <a:t>2,048 LEVIR-CD test pairs</a:t>
            </a:r>
          </a:p>
          <a:p>
            <a:pPr>
              <a:lnSpc>
                <a:spcPct val="105000"/>
              </a:lnSpc>
              <a:spcAft>
                <a:spcPts val="1000"/>
              </a:spcAft>
            </a:pPr>
            <a:r>
              <a:rPr sz="1600" b="1">
                <a:solidFill>
                  <a:srgbClr val="2E75B6"/>
                </a:solidFill>
                <a:latin typeface="Arial"/>
              </a:rPr>
              <a:t>•  </a:t>
            </a:r>
            <a:r>
              <a:rPr sz="1600">
                <a:solidFill>
                  <a:srgbClr val="262626"/>
                </a:solidFill>
                <a:latin typeface="Arial"/>
              </a:rPr>
              <a:t>Six factors: 1, 2, 4, 8, 16, 20</a:t>
            </a:r>
          </a:p>
          <a:p>
            <a:pPr>
              <a:lnSpc>
                <a:spcPct val="105000"/>
              </a:lnSpc>
              <a:spcAft>
                <a:spcPts val="1000"/>
              </a:spcAft>
            </a:pPr>
            <a:r>
              <a:rPr sz="1600" b="1">
                <a:solidFill>
                  <a:srgbClr val="2E75B6"/>
                </a:solidFill>
                <a:latin typeface="Arial"/>
              </a:rPr>
              <a:t>•  </a:t>
            </a:r>
            <a:r>
              <a:rPr sz="1600">
                <a:solidFill>
                  <a:srgbClr val="262626"/>
                </a:solidFill>
                <a:latin typeface="Arial"/>
              </a:rPr>
              <a:t>Gaussian blur + LANCZOS down/up</a:t>
            </a:r>
          </a:p>
          <a:p>
            <a:pPr>
              <a:lnSpc>
                <a:spcPct val="105000"/>
              </a:lnSpc>
              <a:spcAft>
                <a:spcPts val="1000"/>
              </a:spcAft>
            </a:pPr>
            <a:r>
              <a:rPr sz="1600" b="1">
                <a:solidFill>
                  <a:srgbClr val="2E75B6"/>
                </a:solidFill>
                <a:latin typeface="Arial"/>
              </a:rPr>
              <a:t>•  </a:t>
            </a:r>
            <a:r>
              <a:rPr sz="1600">
                <a:solidFill>
                  <a:srgbClr val="262626"/>
                </a:solidFill>
                <a:latin typeface="Arial"/>
              </a:rPr>
              <a:t>Same scene content; only sampling changes</a:t>
            </a:r>
          </a:p>
        </p:txBody>
      </p:sp>
      <p:sp>
        <p:nvSpPr>
          <p:cNvPr id="8" name="Rounded Rectangle 7"/>
          <p:cNvSpPr/>
          <p:nvPr/>
        </p:nvSpPr>
        <p:spPr>
          <a:xfrm>
            <a:off x="6309360" y="1554480"/>
            <a:ext cx="5303520" cy="3840480"/>
          </a:xfrm>
          <a:prstGeom prst="roundRect">
            <a:avLst>
              <a:gd name="adj" fmla="val 6000"/>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783080"/>
            <a:ext cx="4663440" cy="365760"/>
          </a:xfrm>
          <a:prstGeom prst="rect">
            <a:avLst/>
          </a:prstGeom>
          <a:noFill/>
        </p:spPr>
        <p:txBody>
          <a:bodyPr wrap="square" lIns="0" rIns="0" tIns="0" bIns="0" anchor="t">
            <a:spAutoFit/>
          </a:bodyPr>
          <a:lstStyle/>
          <a:p>
            <a:pPr algn="l">
              <a:lnSpc>
                <a:spcPct val="100000"/>
              </a:lnSpc>
            </a:pPr>
            <a:r>
              <a:rPr sz="2100" b="1">
                <a:solidFill>
                  <a:srgbClr val="C55A11"/>
                </a:solidFill>
                <a:latin typeface="Arial"/>
              </a:rPr>
              <a:t>Real Sentinel-2 (OSCD)</a:t>
            </a:r>
          </a:p>
        </p:txBody>
      </p:sp>
      <p:sp>
        <p:nvSpPr>
          <p:cNvPr id="10" name="TextBox 9"/>
          <p:cNvSpPr txBox="1"/>
          <p:nvPr/>
        </p:nvSpPr>
        <p:spPr>
          <a:xfrm>
            <a:off x="6629400" y="2286000"/>
            <a:ext cx="4663440" cy="2834640"/>
          </a:xfrm>
          <a:prstGeom prst="rect">
            <a:avLst/>
          </a:prstGeom>
          <a:noFill/>
        </p:spPr>
        <p:txBody>
          <a:bodyPr wrap="square" lIns="0" rIns="0" tIns="0" bIns="0">
            <a:spAutoFit/>
          </a:bodyPr>
          <a:lstStyle/>
          <a:p>
            <a:pPr>
              <a:lnSpc>
                <a:spcPct val="105000"/>
              </a:lnSpc>
              <a:spcAft>
                <a:spcPts val="1000"/>
              </a:spcAft>
            </a:pPr>
            <a:r>
              <a:rPr sz="1600" b="1">
                <a:solidFill>
                  <a:srgbClr val="C55A11"/>
                </a:solidFill>
                <a:latin typeface="Arial"/>
              </a:rPr>
              <a:t>•  </a:t>
            </a:r>
            <a:r>
              <a:rPr sz="1600">
                <a:solidFill>
                  <a:srgbClr val="262626"/>
                </a:solidFill>
                <a:latin typeface="Arial"/>
              </a:rPr>
              <a:t>10 official test cities</a:t>
            </a:r>
          </a:p>
          <a:p>
            <a:pPr>
              <a:lnSpc>
                <a:spcPct val="105000"/>
              </a:lnSpc>
              <a:spcAft>
                <a:spcPts val="1000"/>
              </a:spcAft>
            </a:pPr>
            <a:r>
              <a:rPr sz="1600" b="1">
                <a:solidFill>
                  <a:srgbClr val="C55A11"/>
                </a:solidFill>
                <a:latin typeface="Arial"/>
              </a:rPr>
              <a:t>•  </a:t>
            </a:r>
            <a:r>
              <a:rPr sz="1600">
                <a:solidFill>
                  <a:srgbClr val="262626"/>
                </a:solidFill>
                <a:latin typeface="Arial"/>
              </a:rPr>
              <a:t>3,077,936 pixels; 5.17% changed</a:t>
            </a:r>
          </a:p>
          <a:p>
            <a:pPr>
              <a:lnSpc>
                <a:spcPct val="105000"/>
              </a:lnSpc>
              <a:spcAft>
                <a:spcPts val="1000"/>
              </a:spcAft>
            </a:pPr>
            <a:r>
              <a:rPr sz="1600" b="1">
                <a:solidFill>
                  <a:srgbClr val="C55A11"/>
                </a:solidFill>
                <a:latin typeface="Arial"/>
              </a:rPr>
              <a:t>•  </a:t>
            </a:r>
            <a:r>
              <a:rPr sz="1600">
                <a:solidFill>
                  <a:srgbClr val="262626"/>
                </a:solidFill>
                <a:latin typeface="Arial"/>
              </a:rPr>
              <a:t>Zero-shot CNN; NDVI/NDBI and Otsu rules</a:t>
            </a:r>
          </a:p>
          <a:p>
            <a:pPr>
              <a:lnSpc>
                <a:spcPct val="105000"/>
              </a:lnSpc>
              <a:spcAft>
                <a:spcPts val="1000"/>
              </a:spcAft>
            </a:pPr>
            <a:r>
              <a:rPr sz="1600" b="1">
                <a:solidFill>
                  <a:srgbClr val="C55A11"/>
                </a:solidFill>
                <a:latin typeface="Arial"/>
              </a:rPr>
              <a:t>•  </a:t>
            </a:r>
            <a:r>
              <a:rPr sz="1600">
                <a:solidFill>
                  <a:srgbClr val="262626"/>
                </a:solidFill>
                <a:latin typeface="Arial"/>
              </a:rPr>
              <a:t>No SCL; confounded with sensor and season</a:t>
            </a:r>
          </a:p>
        </p:txBody>
      </p:sp>
      <p:sp>
        <p:nvSpPr>
          <p:cNvPr id="11" name="Rounded Rectangle 10"/>
          <p:cNvSpPr/>
          <p:nvPr/>
        </p:nvSpPr>
        <p:spPr>
          <a:xfrm>
            <a:off x="594360" y="5623560"/>
            <a:ext cx="11018520" cy="502920"/>
          </a:xfrm>
          <a:prstGeom prst="roundRect">
            <a:avLst>
              <a:gd name="adj" fmla="val 6000"/>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733288"/>
            <a:ext cx="10515600" cy="274320"/>
          </a:xfrm>
          <a:prstGeom prst="rect">
            <a:avLst/>
          </a:prstGeom>
          <a:noFill/>
        </p:spPr>
        <p:txBody>
          <a:bodyPr wrap="square" lIns="0" rIns="0" tIns="0" bIns="0" anchor="t">
            <a:spAutoFit/>
          </a:bodyPr>
          <a:lstStyle/>
          <a:p>
            <a:pPr algn="l">
              <a:lnSpc>
                <a:spcPct val="100000"/>
              </a:lnSpc>
            </a:pPr>
            <a:r>
              <a:rPr sz="1300" b="1">
                <a:solidFill>
                  <a:srgbClr val="1F3864"/>
                </a:solidFill>
                <a:latin typeface="Arial"/>
              </a:rPr>
              <a:t>Frozen checkpoint  ·  one architecture  ·  one training run  ·  fixed 0.5 threshold</a:t>
            </a:r>
          </a:p>
        </p:txBody>
      </p:sp>
      <p:sp>
        <p:nvSpPr>
          <p:cNvPr id="13" name="Rectangle 12"/>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5" name="TextBox 14"/>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DEGRADATION PROTOCOL</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3000" b="1">
                <a:solidFill>
                  <a:srgbClr val="1F3864"/>
                </a:solidFill>
                <a:latin typeface="Arial"/>
              </a:rPr>
              <a:t>Coarsen, then upsample back to 256×256</a:t>
            </a:r>
          </a:p>
        </p:txBody>
      </p:sp>
      <p:sp>
        <p:nvSpPr>
          <p:cNvPr id="5" name="Rounded Rectangle 4"/>
          <p:cNvSpPr/>
          <p:nvPr/>
        </p:nvSpPr>
        <p:spPr>
          <a:xfrm>
            <a:off x="594360" y="1691640"/>
            <a:ext cx="2450592" cy="11887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28800"/>
            <a:ext cx="320040" cy="274320"/>
          </a:xfrm>
          <a:prstGeom prst="rect">
            <a:avLst/>
          </a:prstGeom>
          <a:noFill/>
        </p:spPr>
        <p:txBody>
          <a:bodyPr wrap="square" lIns="0" rIns="0" tIns="0" bIns="0" anchor="t">
            <a:spAutoFit/>
          </a:bodyPr>
          <a:lstStyle/>
          <a:p>
            <a:pPr algn="l">
              <a:lnSpc>
                <a:spcPct val="100000"/>
              </a:lnSpc>
            </a:pPr>
            <a:r>
              <a:rPr sz="1300" b="1">
                <a:solidFill>
                  <a:srgbClr val="FFFFFF"/>
                </a:solidFill>
                <a:latin typeface="Arial"/>
              </a:rPr>
              <a:t>1</a:t>
            </a:r>
          </a:p>
        </p:txBody>
      </p:sp>
      <p:sp>
        <p:nvSpPr>
          <p:cNvPr id="7" name="TextBox 6"/>
          <p:cNvSpPr txBox="1"/>
          <p:nvPr/>
        </p:nvSpPr>
        <p:spPr>
          <a:xfrm>
            <a:off x="758952" y="2084831"/>
            <a:ext cx="2103120" cy="320040"/>
          </a:xfrm>
          <a:prstGeom prst="rect">
            <a:avLst/>
          </a:prstGeom>
          <a:noFill/>
        </p:spPr>
        <p:txBody>
          <a:bodyPr wrap="square" lIns="0" rIns="0" tIns="0" bIns="0" anchor="t">
            <a:spAutoFit/>
          </a:bodyPr>
          <a:lstStyle/>
          <a:p>
            <a:pPr algn="l">
              <a:lnSpc>
                <a:spcPct val="100000"/>
              </a:lnSpc>
            </a:pPr>
            <a:r>
              <a:rPr sz="1600" b="1">
                <a:solidFill>
                  <a:srgbClr val="FFFFFF"/>
                </a:solidFill>
                <a:latin typeface="Arial"/>
              </a:rPr>
              <a:t>256×256</a:t>
            </a:r>
          </a:p>
        </p:txBody>
      </p:sp>
      <p:sp>
        <p:nvSpPr>
          <p:cNvPr id="8" name="TextBox 7"/>
          <p:cNvSpPr txBox="1"/>
          <p:nvPr/>
        </p:nvSpPr>
        <p:spPr>
          <a:xfrm>
            <a:off x="758952" y="2450592"/>
            <a:ext cx="2103120" cy="274320"/>
          </a:xfrm>
          <a:prstGeom prst="rect">
            <a:avLst/>
          </a:prstGeom>
          <a:noFill/>
        </p:spPr>
        <p:txBody>
          <a:bodyPr wrap="square" lIns="0" rIns="0" tIns="0" bIns="0" anchor="t">
            <a:spAutoFit/>
          </a:bodyPr>
          <a:lstStyle/>
          <a:p>
            <a:pPr algn="l">
              <a:lnSpc>
                <a:spcPct val="100000"/>
              </a:lnSpc>
            </a:pPr>
            <a:r>
              <a:rPr sz="1100" b="0">
                <a:solidFill>
                  <a:srgbClr val="EAEAEA"/>
                </a:solidFill>
                <a:latin typeface="Arial"/>
              </a:rPr>
              <a:t>before / after pair</a:t>
            </a:r>
          </a:p>
        </p:txBody>
      </p:sp>
      <p:sp>
        <p:nvSpPr>
          <p:cNvPr id="9" name="Right Arrow 8"/>
          <p:cNvSpPr/>
          <p:nvPr/>
        </p:nvSpPr>
        <p:spPr>
          <a:xfrm>
            <a:off x="3081528" y="2148840"/>
            <a:ext cx="237744" cy="274320"/>
          </a:xfrm>
          <a:prstGeom prst="rightArrow">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37560" y="1691640"/>
            <a:ext cx="2450592" cy="118872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2152" y="1828800"/>
            <a:ext cx="320040" cy="274320"/>
          </a:xfrm>
          <a:prstGeom prst="rect">
            <a:avLst/>
          </a:prstGeom>
          <a:noFill/>
        </p:spPr>
        <p:txBody>
          <a:bodyPr wrap="square" lIns="0" rIns="0" tIns="0" bIns="0" anchor="t">
            <a:spAutoFit/>
          </a:bodyPr>
          <a:lstStyle/>
          <a:p>
            <a:pPr algn="l">
              <a:lnSpc>
                <a:spcPct val="100000"/>
              </a:lnSpc>
            </a:pPr>
            <a:r>
              <a:rPr sz="1300" b="1">
                <a:solidFill>
                  <a:srgbClr val="FFFFFF"/>
                </a:solidFill>
                <a:latin typeface="Arial"/>
              </a:rPr>
              <a:t>2</a:t>
            </a:r>
          </a:p>
        </p:txBody>
      </p:sp>
      <p:sp>
        <p:nvSpPr>
          <p:cNvPr id="12" name="TextBox 11"/>
          <p:cNvSpPr txBox="1"/>
          <p:nvPr/>
        </p:nvSpPr>
        <p:spPr>
          <a:xfrm>
            <a:off x="3502152" y="2084831"/>
            <a:ext cx="2103120" cy="320040"/>
          </a:xfrm>
          <a:prstGeom prst="rect">
            <a:avLst/>
          </a:prstGeom>
          <a:noFill/>
        </p:spPr>
        <p:txBody>
          <a:bodyPr wrap="square" lIns="0" rIns="0" tIns="0" bIns="0" anchor="t">
            <a:spAutoFit/>
          </a:bodyPr>
          <a:lstStyle/>
          <a:p>
            <a:pPr algn="l">
              <a:lnSpc>
                <a:spcPct val="100000"/>
              </a:lnSpc>
            </a:pPr>
            <a:r>
              <a:rPr sz="1600" b="1">
                <a:solidFill>
                  <a:srgbClr val="FFFFFF"/>
                </a:solidFill>
                <a:latin typeface="Arial"/>
              </a:rPr>
              <a:t>Gaussian blur</a:t>
            </a:r>
          </a:p>
        </p:txBody>
      </p:sp>
      <p:sp>
        <p:nvSpPr>
          <p:cNvPr id="13" name="TextBox 12"/>
          <p:cNvSpPr txBox="1"/>
          <p:nvPr/>
        </p:nvSpPr>
        <p:spPr>
          <a:xfrm>
            <a:off x="3502152" y="2450592"/>
            <a:ext cx="2103120" cy="274320"/>
          </a:xfrm>
          <a:prstGeom prst="rect">
            <a:avLst/>
          </a:prstGeom>
          <a:noFill/>
        </p:spPr>
        <p:txBody>
          <a:bodyPr wrap="square" lIns="0" rIns="0" tIns="0" bIns="0" anchor="t">
            <a:spAutoFit/>
          </a:bodyPr>
          <a:lstStyle/>
          <a:p>
            <a:pPr algn="l">
              <a:lnSpc>
                <a:spcPct val="100000"/>
              </a:lnSpc>
            </a:pPr>
            <a:r>
              <a:rPr sz="1100" b="0">
                <a:solidFill>
                  <a:srgbClr val="EAEAEA"/>
                </a:solidFill>
                <a:latin typeface="Arial"/>
              </a:rPr>
              <a:t>radius f / 2</a:t>
            </a:r>
          </a:p>
        </p:txBody>
      </p:sp>
      <p:sp>
        <p:nvSpPr>
          <p:cNvPr id="14" name="Right Arrow 13"/>
          <p:cNvSpPr/>
          <p:nvPr/>
        </p:nvSpPr>
        <p:spPr>
          <a:xfrm>
            <a:off x="5824728" y="2148840"/>
            <a:ext cx="237744" cy="274320"/>
          </a:xfrm>
          <a:prstGeom prst="rightArrow">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80760" y="1691640"/>
            <a:ext cx="2450592" cy="1188720"/>
          </a:xfrm>
          <a:prstGeom prst="roundRect">
            <a:avLst>
              <a:gd name="adj" fmla="val 8000"/>
            </a:avLst>
          </a:prstGeom>
          <a:solidFill>
            <a:srgbClr val="2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5352" y="1828800"/>
            <a:ext cx="320040" cy="274320"/>
          </a:xfrm>
          <a:prstGeom prst="rect">
            <a:avLst/>
          </a:prstGeom>
          <a:noFill/>
        </p:spPr>
        <p:txBody>
          <a:bodyPr wrap="square" lIns="0" rIns="0" tIns="0" bIns="0" anchor="t">
            <a:spAutoFit/>
          </a:bodyPr>
          <a:lstStyle/>
          <a:p>
            <a:pPr algn="l">
              <a:lnSpc>
                <a:spcPct val="100000"/>
              </a:lnSpc>
            </a:pPr>
            <a:r>
              <a:rPr sz="1300" b="1">
                <a:solidFill>
                  <a:srgbClr val="FFFFFF"/>
                </a:solidFill>
                <a:latin typeface="Arial"/>
              </a:rPr>
              <a:t>3</a:t>
            </a:r>
          </a:p>
        </p:txBody>
      </p:sp>
      <p:sp>
        <p:nvSpPr>
          <p:cNvPr id="17" name="TextBox 16"/>
          <p:cNvSpPr txBox="1"/>
          <p:nvPr/>
        </p:nvSpPr>
        <p:spPr>
          <a:xfrm>
            <a:off x="6245352" y="2084831"/>
            <a:ext cx="2103120" cy="320040"/>
          </a:xfrm>
          <a:prstGeom prst="rect">
            <a:avLst/>
          </a:prstGeom>
          <a:noFill/>
        </p:spPr>
        <p:txBody>
          <a:bodyPr wrap="square" lIns="0" rIns="0" tIns="0" bIns="0" anchor="t">
            <a:spAutoFit/>
          </a:bodyPr>
          <a:lstStyle/>
          <a:p>
            <a:pPr algn="l">
              <a:lnSpc>
                <a:spcPct val="100000"/>
              </a:lnSpc>
            </a:pPr>
            <a:r>
              <a:rPr sz="1600" b="1">
                <a:solidFill>
                  <a:srgbClr val="FFFFFF"/>
                </a:solidFill>
                <a:latin typeface="Arial"/>
              </a:rPr>
              <a:t>LANCZOS down</a:t>
            </a:r>
          </a:p>
        </p:txBody>
      </p:sp>
      <p:sp>
        <p:nvSpPr>
          <p:cNvPr id="18" name="TextBox 17"/>
          <p:cNvSpPr txBox="1"/>
          <p:nvPr/>
        </p:nvSpPr>
        <p:spPr>
          <a:xfrm>
            <a:off x="6245352" y="2450592"/>
            <a:ext cx="2103120" cy="274320"/>
          </a:xfrm>
          <a:prstGeom prst="rect">
            <a:avLst/>
          </a:prstGeom>
          <a:noFill/>
        </p:spPr>
        <p:txBody>
          <a:bodyPr wrap="square" lIns="0" rIns="0" tIns="0" bIns="0" anchor="t">
            <a:spAutoFit/>
          </a:bodyPr>
          <a:lstStyle/>
          <a:p>
            <a:pPr algn="l">
              <a:lnSpc>
                <a:spcPct val="100000"/>
              </a:lnSpc>
            </a:pPr>
            <a:r>
              <a:rPr sz="1100" b="0">
                <a:solidFill>
                  <a:srgbClr val="EAEAEA"/>
                </a:solidFill>
                <a:latin typeface="Arial"/>
              </a:rPr>
              <a:t>to (256/f)²</a:t>
            </a:r>
          </a:p>
        </p:txBody>
      </p:sp>
      <p:sp>
        <p:nvSpPr>
          <p:cNvPr id="19" name="Right Arrow 18"/>
          <p:cNvSpPr/>
          <p:nvPr/>
        </p:nvSpPr>
        <p:spPr>
          <a:xfrm>
            <a:off x="8567928" y="2148840"/>
            <a:ext cx="237744" cy="274320"/>
          </a:xfrm>
          <a:prstGeom prst="rightArrow">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823960" y="1691640"/>
            <a:ext cx="2450592" cy="1188720"/>
          </a:xfrm>
          <a:prstGeom prst="roundRect">
            <a:avLst>
              <a:gd name="adj" fmla="val 8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1828800"/>
            <a:ext cx="320040" cy="274320"/>
          </a:xfrm>
          <a:prstGeom prst="rect">
            <a:avLst/>
          </a:prstGeom>
          <a:noFill/>
        </p:spPr>
        <p:txBody>
          <a:bodyPr wrap="square" lIns="0" rIns="0" tIns="0" bIns="0" anchor="t">
            <a:spAutoFit/>
          </a:bodyPr>
          <a:lstStyle/>
          <a:p>
            <a:pPr algn="l">
              <a:lnSpc>
                <a:spcPct val="100000"/>
              </a:lnSpc>
            </a:pPr>
            <a:r>
              <a:rPr sz="1300" b="1">
                <a:solidFill>
                  <a:srgbClr val="FFFFFF"/>
                </a:solidFill>
                <a:latin typeface="Arial"/>
              </a:rPr>
              <a:t>4</a:t>
            </a:r>
          </a:p>
        </p:txBody>
      </p:sp>
      <p:sp>
        <p:nvSpPr>
          <p:cNvPr id="22" name="TextBox 21"/>
          <p:cNvSpPr txBox="1"/>
          <p:nvPr/>
        </p:nvSpPr>
        <p:spPr>
          <a:xfrm>
            <a:off x="8988552" y="2084831"/>
            <a:ext cx="2103120" cy="320040"/>
          </a:xfrm>
          <a:prstGeom prst="rect">
            <a:avLst/>
          </a:prstGeom>
          <a:noFill/>
        </p:spPr>
        <p:txBody>
          <a:bodyPr wrap="square" lIns="0" rIns="0" tIns="0" bIns="0" anchor="t">
            <a:spAutoFit/>
          </a:bodyPr>
          <a:lstStyle/>
          <a:p>
            <a:pPr algn="l">
              <a:lnSpc>
                <a:spcPct val="100000"/>
              </a:lnSpc>
            </a:pPr>
            <a:r>
              <a:rPr sz="1600" b="1">
                <a:solidFill>
                  <a:srgbClr val="FFFFFF"/>
                </a:solidFill>
                <a:latin typeface="Arial"/>
              </a:rPr>
              <a:t>LANCZOS up</a:t>
            </a:r>
          </a:p>
        </p:txBody>
      </p:sp>
      <p:sp>
        <p:nvSpPr>
          <p:cNvPr id="23" name="TextBox 22"/>
          <p:cNvSpPr txBox="1"/>
          <p:nvPr/>
        </p:nvSpPr>
        <p:spPr>
          <a:xfrm>
            <a:off x="8988552" y="2450592"/>
            <a:ext cx="2103120" cy="274320"/>
          </a:xfrm>
          <a:prstGeom prst="rect">
            <a:avLst/>
          </a:prstGeom>
          <a:noFill/>
        </p:spPr>
        <p:txBody>
          <a:bodyPr wrap="square" lIns="0" rIns="0" tIns="0" bIns="0" anchor="t">
            <a:spAutoFit/>
          </a:bodyPr>
          <a:lstStyle/>
          <a:p>
            <a:pPr algn="l">
              <a:lnSpc>
                <a:spcPct val="100000"/>
              </a:lnSpc>
            </a:pPr>
            <a:r>
              <a:rPr sz="1100" b="0">
                <a:solidFill>
                  <a:srgbClr val="EAEAEA"/>
                </a:solidFill>
                <a:latin typeface="Arial"/>
              </a:rPr>
              <a:t>back to 256×256</a:t>
            </a:r>
          </a:p>
        </p:txBody>
      </p:sp>
      <p:sp>
        <p:nvSpPr>
          <p:cNvPr id="24" name="Rounded Rectangle 23"/>
          <p:cNvSpPr/>
          <p:nvPr/>
        </p:nvSpPr>
        <p:spPr>
          <a:xfrm>
            <a:off x="594360" y="3246120"/>
            <a:ext cx="11018520" cy="548640"/>
          </a:xfrm>
          <a:prstGeom prst="roundRect">
            <a:avLst>
              <a:gd name="adj" fmla="val 6000"/>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374136"/>
            <a:ext cx="10515600" cy="292608"/>
          </a:xfrm>
          <a:prstGeom prst="rect">
            <a:avLst/>
          </a:prstGeom>
          <a:noFill/>
        </p:spPr>
        <p:txBody>
          <a:bodyPr wrap="square" lIns="0" rIns="0" tIns="0" bIns="0" anchor="t">
            <a:spAutoFit/>
          </a:bodyPr>
          <a:lstStyle/>
          <a:p>
            <a:pPr algn="l">
              <a:lnSpc>
                <a:spcPct val="100000"/>
              </a:lnSpc>
            </a:pPr>
            <a:r>
              <a:rPr sz="1700" b="1">
                <a:solidFill>
                  <a:srgbClr val="1F3864"/>
                </a:solidFill>
                <a:latin typeface="Arial"/>
              </a:rPr>
              <a:t>Factors 1, 2, 4, 8, 16, 20   →   0.5, 1, 2, 4, 8, 10 m</a:t>
            </a:r>
          </a:p>
        </p:txBody>
      </p:sp>
      <p:sp>
        <p:nvSpPr>
          <p:cNvPr id="26" name="Rounded Rectangle 25"/>
          <p:cNvSpPr/>
          <p:nvPr/>
        </p:nvSpPr>
        <p:spPr>
          <a:xfrm>
            <a:off x="594360" y="4069080"/>
            <a:ext cx="5257800" cy="868680"/>
          </a:xfrm>
          <a:prstGeom prst="roundRect">
            <a:avLst>
              <a:gd name="adj" fmla="val 6000"/>
            </a:avLst>
          </a:prstGeom>
          <a:solidFill>
            <a:srgbClr val="E2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224528"/>
            <a:ext cx="4754880" cy="274320"/>
          </a:xfrm>
          <a:prstGeom prst="rect">
            <a:avLst/>
          </a:prstGeom>
          <a:noFill/>
        </p:spPr>
        <p:txBody>
          <a:bodyPr wrap="square" lIns="0" rIns="0" tIns="0" bIns="0" anchor="t">
            <a:spAutoFit/>
          </a:bodyPr>
          <a:lstStyle/>
          <a:p>
            <a:pPr algn="l">
              <a:lnSpc>
                <a:spcPct val="100000"/>
              </a:lnSpc>
            </a:pPr>
            <a:r>
              <a:rPr sz="1700" b="1">
                <a:solidFill>
                  <a:srgbClr val="2F7D7D"/>
                </a:solidFill>
                <a:latin typeface="Arial"/>
              </a:rPr>
              <a:t>At 10 m: a 12×12 intermediate</a:t>
            </a:r>
          </a:p>
        </p:txBody>
      </p:sp>
      <p:sp>
        <p:nvSpPr>
          <p:cNvPr id="28" name="TextBox 27"/>
          <p:cNvSpPr txBox="1"/>
          <p:nvPr/>
        </p:nvSpPr>
        <p:spPr>
          <a:xfrm>
            <a:off x="868680" y="4544568"/>
            <a:ext cx="4754880" cy="256032"/>
          </a:xfrm>
          <a:prstGeom prst="rect">
            <a:avLst/>
          </a:prstGeom>
          <a:noFill/>
        </p:spPr>
        <p:txBody>
          <a:bodyPr wrap="square" lIns="0" rIns="0" tIns="0" bIns="0" anchor="t">
            <a:spAutoFit/>
          </a:bodyPr>
          <a:lstStyle/>
          <a:p>
            <a:pPr algn="l">
              <a:lnSpc>
                <a:spcPct val="100000"/>
              </a:lnSpc>
            </a:pPr>
            <a:r>
              <a:rPr sz="1200" b="0">
                <a:solidFill>
                  <a:srgbClr val="595959"/>
                </a:solidFill>
                <a:latin typeface="Arial"/>
              </a:rPr>
              <a:t>for a 256×256 input</a:t>
            </a:r>
          </a:p>
        </p:txBody>
      </p:sp>
      <p:sp>
        <p:nvSpPr>
          <p:cNvPr id="29" name="Rounded Rectangle 28"/>
          <p:cNvSpPr/>
          <p:nvPr/>
        </p:nvSpPr>
        <p:spPr>
          <a:xfrm>
            <a:off x="6080760" y="4069080"/>
            <a:ext cx="5532120" cy="86868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4224528"/>
            <a:ext cx="5029200" cy="274320"/>
          </a:xfrm>
          <a:prstGeom prst="rect">
            <a:avLst/>
          </a:prstGeom>
          <a:noFill/>
        </p:spPr>
        <p:txBody>
          <a:bodyPr wrap="square" lIns="0" rIns="0" tIns="0" bIns="0" anchor="t">
            <a:spAutoFit/>
          </a:bodyPr>
          <a:lstStyle/>
          <a:p>
            <a:pPr algn="l">
              <a:lnSpc>
                <a:spcPct val="100000"/>
              </a:lnSpc>
            </a:pPr>
            <a:r>
              <a:rPr sz="1700" b="1">
                <a:solidFill>
                  <a:srgbClr val="2E75B6"/>
                </a:solidFill>
                <a:latin typeface="Arial"/>
              </a:rPr>
              <a:t>ImageNet normalization · threshold 0.5</a:t>
            </a:r>
          </a:p>
        </p:txBody>
      </p:sp>
      <p:sp>
        <p:nvSpPr>
          <p:cNvPr id="31" name="TextBox 30"/>
          <p:cNvSpPr txBox="1"/>
          <p:nvPr/>
        </p:nvSpPr>
        <p:spPr>
          <a:xfrm>
            <a:off x="6355080" y="4544568"/>
            <a:ext cx="5029200" cy="256032"/>
          </a:xfrm>
          <a:prstGeom prst="rect">
            <a:avLst/>
          </a:prstGeom>
          <a:noFill/>
        </p:spPr>
        <p:txBody>
          <a:bodyPr wrap="square" lIns="0" rIns="0" tIns="0" bIns="0" anchor="t">
            <a:spAutoFit/>
          </a:bodyPr>
          <a:lstStyle/>
          <a:p>
            <a:pPr algn="l">
              <a:lnSpc>
                <a:spcPct val="100000"/>
              </a:lnSpc>
            </a:pPr>
            <a:r>
              <a:rPr sz="1200" b="0">
                <a:solidFill>
                  <a:srgbClr val="595959"/>
                </a:solidFill>
                <a:latin typeface="Arial"/>
              </a:rPr>
              <a:t>pooled TP / FP / FN over 2,048 pairs</a:t>
            </a:r>
          </a:p>
        </p:txBody>
      </p:sp>
      <p:sp>
        <p:nvSpPr>
          <p:cNvPr id="32" name="Rounded Rectangle 31"/>
          <p:cNvSpPr/>
          <p:nvPr/>
        </p:nvSpPr>
        <p:spPr>
          <a:xfrm>
            <a:off x="594360" y="5257800"/>
            <a:ext cx="11018520" cy="777240"/>
          </a:xfrm>
          <a:prstGeom prst="roundRect">
            <a:avLst>
              <a:gd name="adj" fmla="val 6000"/>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5440680"/>
            <a:ext cx="10515600" cy="411480"/>
          </a:xfrm>
          <a:prstGeom prst="rect">
            <a:avLst/>
          </a:prstGeom>
          <a:noFill/>
        </p:spPr>
        <p:txBody>
          <a:bodyPr wrap="square" lIns="0" rIns="0" tIns="0" bIns="0" anchor="t">
            <a:spAutoFit/>
          </a:bodyPr>
          <a:lstStyle/>
          <a:p>
            <a:pPr algn="l">
              <a:lnSpc>
                <a:spcPct val="100000"/>
              </a:lnSpc>
            </a:pPr>
            <a:r>
              <a:rPr sz="1800" b="1">
                <a:solidFill>
                  <a:srgbClr val="C55A11"/>
                </a:solidFill>
                <a:latin typeface="Arial"/>
              </a:rPr>
              <a:t>This isolates blur and resampling. It is not a Sentinel-2 simulation.</a:t>
            </a:r>
          </a:p>
        </p:txBody>
      </p:sp>
      <p:sp>
        <p:nvSpPr>
          <p:cNvPr id="34" name="Rectangle 33"/>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36" name="TextBox 35"/>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RESULT</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3000" b="1">
                <a:solidFill>
                  <a:srgbClr val="1F3864"/>
                </a:solidFill>
                <a:latin typeface="Arial"/>
              </a:rPr>
              <a:t>F1 falls from 87.06% to 4.41% by 2 m</a:t>
            </a:r>
          </a:p>
        </p:txBody>
      </p:sp>
      <p:pic>
        <p:nvPicPr>
          <p:cNvPr id="5" name="Picture 4" descr="f1_vs_resolution_slide.png"/>
          <p:cNvPicPr>
            <a:picLocks noChangeAspect="1"/>
          </p:cNvPicPr>
          <p:nvPr/>
        </p:nvPicPr>
        <p:blipFill>
          <a:blip r:embed="rId2"/>
          <a:stretch>
            <a:fillRect/>
          </a:stretch>
        </p:blipFill>
        <p:spPr>
          <a:xfrm>
            <a:off x="502920" y="1854831"/>
            <a:ext cx="7223760" cy="3879858"/>
          </a:xfrm>
          <a:prstGeom prst="rect">
            <a:avLst/>
          </a:prstGeom>
        </p:spPr>
      </p:pic>
      <p:sp>
        <p:nvSpPr>
          <p:cNvPr id="6" name="Rounded Rectangle 5"/>
          <p:cNvSpPr/>
          <p:nvPr/>
        </p:nvSpPr>
        <p:spPr>
          <a:xfrm>
            <a:off x="8001000" y="1600200"/>
            <a:ext cx="3611880" cy="443484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828800"/>
            <a:ext cx="3017520" cy="274320"/>
          </a:xfrm>
          <a:prstGeom prst="rect">
            <a:avLst/>
          </a:prstGeom>
          <a:noFill/>
        </p:spPr>
        <p:txBody>
          <a:bodyPr wrap="square" lIns="0" rIns="0" tIns="0" bIns="0" anchor="t">
            <a:spAutoFit/>
          </a:bodyPr>
          <a:lstStyle/>
          <a:p>
            <a:pPr algn="l">
              <a:lnSpc>
                <a:spcPct val="100000"/>
              </a:lnSpc>
            </a:pPr>
            <a:r>
              <a:rPr sz="1100" b="1">
                <a:solidFill>
                  <a:srgbClr val="2E75B6"/>
                </a:solidFill>
                <a:latin typeface="Arial"/>
              </a:rPr>
              <a:t>POOLED F1 (%)</a:t>
            </a:r>
          </a:p>
        </p:txBody>
      </p:sp>
      <p:sp>
        <p:nvSpPr>
          <p:cNvPr id="8" name="TextBox 7"/>
          <p:cNvSpPr txBox="1"/>
          <p:nvPr/>
        </p:nvSpPr>
        <p:spPr>
          <a:xfrm>
            <a:off x="8275320" y="2103120"/>
            <a:ext cx="3017520" cy="502920"/>
          </a:xfrm>
          <a:prstGeom prst="rect">
            <a:avLst/>
          </a:prstGeom>
          <a:noFill/>
        </p:spPr>
        <p:txBody>
          <a:bodyPr wrap="square" lIns="0" rIns="0" tIns="0" bIns="0" anchor="t">
            <a:spAutoFit/>
          </a:bodyPr>
          <a:lstStyle/>
          <a:p>
            <a:pPr algn="l">
              <a:lnSpc>
                <a:spcPct val="100000"/>
              </a:lnSpc>
            </a:pPr>
            <a:r>
              <a:rPr sz="2500" b="1">
                <a:solidFill>
                  <a:srgbClr val="1F3864"/>
                </a:solidFill>
                <a:latin typeface="Arial"/>
              </a:rPr>
              <a:t>87.06  →  4.41</a:t>
            </a:r>
          </a:p>
        </p:txBody>
      </p:sp>
      <p:sp>
        <p:nvSpPr>
          <p:cNvPr id="9" name="TextBox 8"/>
          <p:cNvSpPr txBox="1"/>
          <p:nvPr/>
        </p:nvSpPr>
        <p:spPr>
          <a:xfrm>
            <a:off x="8275320" y="2788920"/>
            <a:ext cx="1005840" cy="274320"/>
          </a:xfrm>
          <a:prstGeom prst="rect">
            <a:avLst/>
          </a:prstGeom>
          <a:noFill/>
        </p:spPr>
        <p:txBody>
          <a:bodyPr wrap="square" lIns="0" rIns="0" tIns="0" bIns="0" anchor="t">
            <a:spAutoFit/>
          </a:bodyPr>
          <a:lstStyle/>
          <a:p>
            <a:pPr algn="l">
              <a:lnSpc>
                <a:spcPct val="100000"/>
              </a:lnSpc>
            </a:pPr>
            <a:r>
              <a:rPr sz="1300" b="1">
                <a:solidFill>
                  <a:srgbClr val="595959"/>
                </a:solidFill>
                <a:latin typeface="Arial"/>
              </a:rPr>
              <a:t>0.5 m</a:t>
            </a:r>
          </a:p>
        </p:txBody>
      </p:sp>
      <p:sp>
        <p:nvSpPr>
          <p:cNvPr id="10" name="TextBox 9"/>
          <p:cNvSpPr txBox="1"/>
          <p:nvPr/>
        </p:nvSpPr>
        <p:spPr>
          <a:xfrm>
            <a:off x="9326880" y="2788920"/>
            <a:ext cx="2103120" cy="274320"/>
          </a:xfrm>
          <a:prstGeom prst="rect">
            <a:avLst/>
          </a:prstGeom>
          <a:noFill/>
        </p:spPr>
        <p:txBody>
          <a:bodyPr wrap="square" lIns="0" rIns="0" tIns="0" bIns="0" anchor="t">
            <a:spAutoFit/>
          </a:bodyPr>
          <a:lstStyle/>
          <a:p>
            <a:pPr algn="l">
              <a:lnSpc>
                <a:spcPct val="100000"/>
              </a:lnSpc>
            </a:pPr>
            <a:r>
              <a:rPr sz="1300" b="0">
                <a:solidFill>
                  <a:srgbClr val="262626"/>
                </a:solidFill>
                <a:latin typeface="Arial"/>
              </a:rPr>
              <a:t>87.06</a:t>
            </a:r>
          </a:p>
        </p:txBody>
      </p:sp>
      <p:sp>
        <p:nvSpPr>
          <p:cNvPr id="11" name="TextBox 10"/>
          <p:cNvSpPr txBox="1"/>
          <p:nvPr/>
        </p:nvSpPr>
        <p:spPr>
          <a:xfrm>
            <a:off x="8275320" y="3172968"/>
            <a:ext cx="1005840" cy="274320"/>
          </a:xfrm>
          <a:prstGeom prst="rect">
            <a:avLst/>
          </a:prstGeom>
          <a:noFill/>
        </p:spPr>
        <p:txBody>
          <a:bodyPr wrap="square" lIns="0" rIns="0" tIns="0" bIns="0" anchor="t">
            <a:spAutoFit/>
          </a:bodyPr>
          <a:lstStyle/>
          <a:p>
            <a:pPr algn="l">
              <a:lnSpc>
                <a:spcPct val="100000"/>
              </a:lnSpc>
            </a:pPr>
            <a:r>
              <a:rPr sz="1300" b="1">
                <a:solidFill>
                  <a:srgbClr val="595959"/>
                </a:solidFill>
                <a:latin typeface="Arial"/>
              </a:rPr>
              <a:t>1 m</a:t>
            </a:r>
          </a:p>
        </p:txBody>
      </p:sp>
      <p:sp>
        <p:nvSpPr>
          <p:cNvPr id="12" name="TextBox 11"/>
          <p:cNvSpPr txBox="1"/>
          <p:nvPr/>
        </p:nvSpPr>
        <p:spPr>
          <a:xfrm>
            <a:off x="9326880" y="3172968"/>
            <a:ext cx="2103120" cy="274320"/>
          </a:xfrm>
          <a:prstGeom prst="rect">
            <a:avLst/>
          </a:prstGeom>
          <a:noFill/>
        </p:spPr>
        <p:txBody>
          <a:bodyPr wrap="square" lIns="0" rIns="0" tIns="0" bIns="0" anchor="t">
            <a:spAutoFit/>
          </a:bodyPr>
          <a:lstStyle/>
          <a:p>
            <a:pPr algn="l">
              <a:lnSpc>
                <a:spcPct val="100000"/>
              </a:lnSpc>
            </a:pPr>
            <a:r>
              <a:rPr sz="1300" b="0">
                <a:solidFill>
                  <a:srgbClr val="262626"/>
                </a:solidFill>
                <a:latin typeface="Arial"/>
              </a:rPr>
              <a:t>70.81  (−16.25)</a:t>
            </a:r>
          </a:p>
        </p:txBody>
      </p:sp>
      <p:sp>
        <p:nvSpPr>
          <p:cNvPr id="13" name="TextBox 12"/>
          <p:cNvSpPr txBox="1"/>
          <p:nvPr/>
        </p:nvSpPr>
        <p:spPr>
          <a:xfrm>
            <a:off x="8275320" y="3557015"/>
            <a:ext cx="1005840" cy="274320"/>
          </a:xfrm>
          <a:prstGeom prst="rect">
            <a:avLst/>
          </a:prstGeom>
          <a:noFill/>
        </p:spPr>
        <p:txBody>
          <a:bodyPr wrap="square" lIns="0" rIns="0" tIns="0" bIns="0" anchor="t">
            <a:spAutoFit/>
          </a:bodyPr>
          <a:lstStyle/>
          <a:p>
            <a:pPr algn="l">
              <a:lnSpc>
                <a:spcPct val="100000"/>
              </a:lnSpc>
            </a:pPr>
            <a:r>
              <a:rPr sz="1300" b="1">
                <a:solidFill>
                  <a:srgbClr val="595959"/>
                </a:solidFill>
                <a:latin typeface="Arial"/>
              </a:rPr>
              <a:t>2 m</a:t>
            </a:r>
          </a:p>
        </p:txBody>
      </p:sp>
      <p:sp>
        <p:nvSpPr>
          <p:cNvPr id="14" name="TextBox 13"/>
          <p:cNvSpPr txBox="1"/>
          <p:nvPr/>
        </p:nvSpPr>
        <p:spPr>
          <a:xfrm>
            <a:off x="9326880" y="3557015"/>
            <a:ext cx="2103120" cy="274320"/>
          </a:xfrm>
          <a:prstGeom prst="rect">
            <a:avLst/>
          </a:prstGeom>
          <a:noFill/>
        </p:spPr>
        <p:txBody>
          <a:bodyPr wrap="square" lIns="0" rIns="0" tIns="0" bIns="0" anchor="t">
            <a:spAutoFit/>
          </a:bodyPr>
          <a:lstStyle/>
          <a:p>
            <a:pPr algn="l">
              <a:lnSpc>
                <a:spcPct val="100000"/>
              </a:lnSpc>
            </a:pPr>
            <a:r>
              <a:rPr sz="1300" b="0">
                <a:solidFill>
                  <a:srgbClr val="262626"/>
                </a:solidFill>
                <a:latin typeface="Arial"/>
              </a:rPr>
              <a:t>4.41</a:t>
            </a:r>
          </a:p>
        </p:txBody>
      </p:sp>
      <p:sp>
        <p:nvSpPr>
          <p:cNvPr id="15" name="TextBox 14"/>
          <p:cNvSpPr txBox="1"/>
          <p:nvPr/>
        </p:nvSpPr>
        <p:spPr>
          <a:xfrm>
            <a:off x="8275320" y="3941063"/>
            <a:ext cx="1005840" cy="274320"/>
          </a:xfrm>
          <a:prstGeom prst="rect">
            <a:avLst/>
          </a:prstGeom>
          <a:noFill/>
        </p:spPr>
        <p:txBody>
          <a:bodyPr wrap="square" lIns="0" rIns="0" tIns="0" bIns="0" anchor="t">
            <a:spAutoFit/>
          </a:bodyPr>
          <a:lstStyle/>
          <a:p>
            <a:pPr algn="l">
              <a:lnSpc>
                <a:spcPct val="100000"/>
              </a:lnSpc>
            </a:pPr>
            <a:r>
              <a:rPr sz="1300" b="1">
                <a:solidFill>
                  <a:srgbClr val="595959"/>
                </a:solidFill>
                <a:latin typeface="Arial"/>
              </a:rPr>
              <a:t>8–10 m</a:t>
            </a:r>
          </a:p>
        </p:txBody>
      </p:sp>
      <p:sp>
        <p:nvSpPr>
          <p:cNvPr id="16" name="TextBox 15"/>
          <p:cNvSpPr txBox="1"/>
          <p:nvPr/>
        </p:nvSpPr>
        <p:spPr>
          <a:xfrm>
            <a:off x="9326880" y="3941063"/>
            <a:ext cx="2103120" cy="274320"/>
          </a:xfrm>
          <a:prstGeom prst="rect">
            <a:avLst/>
          </a:prstGeom>
          <a:noFill/>
        </p:spPr>
        <p:txBody>
          <a:bodyPr wrap="square" lIns="0" rIns="0" tIns="0" bIns="0" anchor="t">
            <a:spAutoFit/>
          </a:bodyPr>
          <a:lstStyle/>
          <a:p>
            <a:pPr algn="l">
              <a:lnSpc>
                <a:spcPct val="100000"/>
              </a:lnSpc>
            </a:pPr>
            <a:r>
              <a:rPr sz="1300" b="0">
                <a:solidFill>
                  <a:srgbClr val="262626"/>
                </a:solidFill>
                <a:latin typeface="Arial"/>
              </a:rPr>
              <a:t>2.61</a:t>
            </a:r>
          </a:p>
        </p:txBody>
      </p:sp>
      <p:sp>
        <p:nvSpPr>
          <p:cNvPr id="17" name="TextBox 16"/>
          <p:cNvSpPr txBox="1"/>
          <p:nvPr/>
        </p:nvSpPr>
        <p:spPr>
          <a:xfrm>
            <a:off x="8275320" y="4526280"/>
            <a:ext cx="3017520" cy="274320"/>
          </a:xfrm>
          <a:prstGeom prst="rect">
            <a:avLst/>
          </a:prstGeom>
          <a:noFill/>
        </p:spPr>
        <p:txBody>
          <a:bodyPr wrap="square" lIns="0" rIns="0" tIns="0" bIns="0" anchor="t">
            <a:spAutoFit/>
          </a:bodyPr>
          <a:lstStyle/>
          <a:p>
            <a:pPr algn="l">
              <a:lnSpc>
                <a:spcPct val="100000"/>
              </a:lnSpc>
            </a:pPr>
            <a:r>
              <a:rPr sz="1300" b="1">
                <a:solidFill>
                  <a:srgbClr val="C55A11"/>
                </a:solidFill>
                <a:latin typeface="Arial"/>
              </a:rPr>
              <a:t>Recall: 85.36% → 1.32%</a:t>
            </a:r>
          </a:p>
        </p:txBody>
      </p:sp>
      <p:sp>
        <p:nvSpPr>
          <p:cNvPr id="18" name="TextBox 17"/>
          <p:cNvSpPr txBox="1"/>
          <p:nvPr/>
        </p:nvSpPr>
        <p:spPr>
          <a:xfrm>
            <a:off x="8275320" y="4892040"/>
            <a:ext cx="3017520" cy="77724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The decline is recall-dominated.
Pooled counts; one checkpoint.</a:t>
            </a:r>
          </a:p>
        </p:txBody>
      </p:sp>
      <p:sp>
        <p:nvSpPr>
          <p:cNvPr id="19" name="Rectangle 18"/>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21" name="TextBox 20"/>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WHY PRECISION MISLEADS</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3000" b="1">
                <a:solidFill>
                  <a:srgbClr val="1F3864"/>
                </a:solidFill>
                <a:latin typeface="Arial"/>
              </a:rPr>
              <a:t>At 10 m, the model predicts almost nothing</a:t>
            </a:r>
          </a:p>
        </p:txBody>
      </p:sp>
      <p:sp>
        <p:nvSpPr>
          <p:cNvPr id="5" name="Rounded Rectangle 4"/>
          <p:cNvSpPr/>
          <p:nvPr/>
        </p:nvSpPr>
        <p:spPr>
          <a:xfrm>
            <a:off x="594360" y="1572768"/>
            <a:ext cx="5166360" cy="1234440"/>
          </a:xfrm>
          <a:prstGeom prst="roundRect">
            <a:avLst>
              <a:gd name="adj" fmla="val 6000"/>
            </a:avLst>
          </a:prstGeom>
          <a:solidFill>
            <a:srgbClr val="FFFFFF"/>
          </a:solidFill>
          <a:ln w="12700">
            <a:solidFill>
              <a:srgbClr val="D9E2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09928"/>
            <a:ext cx="2011680" cy="502920"/>
          </a:xfrm>
          <a:prstGeom prst="rect">
            <a:avLst/>
          </a:prstGeom>
          <a:noFill/>
        </p:spPr>
        <p:txBody>
          <a:bodyPr wrap="square" lIns="0" rIns="0" tIns="0" bIns="0" anchor="t">
            <a:spAutoFit/>
          </a:bodyPr>
          <a:lstStyle/>
          <a:p>
            <a:pPr algn="l">
              <a:lnSpc>
                <a:spcPct val="100000"/>
              </a:lnSpc>
            </a:pPr>
            <a:r>
              <a:rPr sz="2700" b="1">
                <a:solidFill>
                  <a:srgbClr val="C55A11"/>
                </a:solidFill>
                <a:latin typeface="Arial"/>
              </a:rPr>
              <a:t>0.068%</a:t>
            </a:r>
          </a:p>
        </p:txBody>
      </p:sp>
      <p:sp>
        <p:nvSpPr>
          <p:cNvPr id="7" name="TextBox 6"/>
          <p:cNvSpPr txBox="1"/>
          <p:nvPr/>
        </p:nvSpPr>
        <p:spPr>
          <a:xfrm>
            <a:off x="2880360" y="1737360"/>
            <a:ext cx="2651760" cy="86868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of pixels predicted changed at 10 m
91,006 of 134,217,728</a:t>
            </a:r>
          </a:p>
        </p:txBody>
      </p:sp>
      <p:sp>
        <p:nvSpPr>
          <p:cNvPr id="8" name="Rounded Rectangle 7"/>
          <p:cNvSpPr/>
          <p:nvPr/>
        </p:nvSpPr>
        <p:spPr>
          <a:xfrm>
            <a:off x="594360" y="2990088"/>
            <a:ext cx="5166360" cy="1234440"/>
          </a:xfrm>
          <a:prstGeom prst="roundRect">
            <a:avLst>
              <a:gd name="adj" fmla="val 6000"/>
            </a:avLst>
          </a:prstGeom>
          <a:solidFill>
            <a:srgbClr val="FFFFFF"/>
          </a:solidFill>
          <a:ln w="12700">
            <a:solidFill>
              <a:srgbClr val="D9E2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127248"/>
            <a:ext cx="2011680" cy="502920"/>
          </a:xfrm>
          <a:prstGeom prst="rect">
            <a:avLst/>
          </a:prstGeom>
          <a:noFill/>
        </p:spPr>
        <p:txBody>
          <a:bodyPr wrap="square" lIns="0" rIns="0" tIns="0" bIns="0" anchor="t">
            <a:spAutoFit/>
          </a:bodyPr>
          <a:lstStyle/>
          <a:p>
            <a:pPr algn="l">
              <a:lnSpc>
                <a:spcPct val="100000"/>
              </a:lnSpc>
            </a:pPr>
            <a:r>
              <a:rPr sz="2700" b="1">
                <a:solidFill>
                  <a:srgbClr val="2E75B6"/>
                </a:solidFill>
                <a:latin typeface="Arial"/>
              </a:rPr>
              <a:t>924 / 935</a:t>
            </a:r>
          </a:p>
        </p:txBody>
      </p:sp>
      <p:sp>
        <p:nvSpPr>
          <p:cNvPr id="10" name="TextBox 9"/>
          <p:cNvSpPr txBox="1"/>
          <p:nvPr/>
        </p:nvSpPr>
        <p:spPr>
          <a:xfrm>
            <a:off x="2880360" y="3154680"/>
            <a:ext cx="2651760" cy="86868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changed images with zero predicted change
(98.82%)</a:t>
            </a:r>
          </a:p>
        </p:txBody>
      </p:sp>
      <p:sp>
        <p:nvSpPr>
          <p:cNvPr id="11" name="Rounded Rectangle 10"/>
          <p:cNvSpPr/>
          <p:nvPr/>
        </p:nvSpPr>
        <p:spPr>
          <a:xfrm>
            <a:off x="594360" y="4407408"/>
            <a:ext cx="5166360" cy="1234440"/>
          </a:xfrm>
          <a:prstGeom prst="roundRect">
            <a:avLst>
              <a:gd name="adj" fmla="val 6000"/>
            </a:avLst>
          </a:prstGeom>
          <a:solidFill>
            <a:srgbClr val="FFFFFF"/>
          </a:solidFill>
          <a:ln w="12700">
            <a:solidFill>
              <a:srgbClr val="D9E2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544568"/>
            <a:ext cx="2011680" cy="502920"/>
          </a:xfrm>
          <a:prstGeom prst="rect">
            <a:avLst/>
          </a:prstGeom>
          <a:noFill/>
        </p:spPr>
        <p:txBody>
          <a:bodyPr wrap="square" lIns="0" rIns="0" tIns="0" bIns="0" anchor="t">
            <a:spAutoFit/>
          </a:bodyPr>
          <a:lstStyle/>
          <a:p>
            <a:pPr algn="l">
              <a:lnSpc>
                <a:spcPct val="100000"/>
              </a:lnSpc>
            </a:pPr>
            <a:r>
              <a:rPr sz="2700" b="1">
                <a:solidFill>
                  <a:srgbClr val="2F7D7D"/>
                </a:solidFill>
                <a:latin typeface="Arial"/>
              </a:rPr>
              <a:t>99.47%</a:t>
            </a:r>
          </a:p>
        </p:txBody>
      </p:sp>
      <p:sp>
        <p:nvSpPr>
          <p:cNvPr id="13" name="TextBox 12"/>
          <p:cNvSpPr txBox="1"/>
          <p:nvPr/>
        </p:nvSpPr>
        <p:spPr>
          <a:xfrm>
            <a:off x="2880360" y="4572000"/>
            <a:ext cx="2651760" cy="86868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precision, from 90,527 TP and 479 FP
the mask is nearly empty</a:t>
            </a:r>
          </a:p>
        </p:txBody>
      </p:sp>
      <p:pic>
        <p:nvPicPr>
          <p:cNvPr id="14" name="Picture 13" descr="empty_mask_slide.png"/>
          <p:cNvPicPr>
            <a:picLocks noChangeAspect="1"/>
          </p:cNvPicPr>
          <p:nvPr/>
        </p:nvPicPr>
        <p:blipFill>
          <a:blip r:embed="rId2"/>
          <a:stretch>
            <a:fillRect/>
          </a:stretch>
        </p:blipFill>
        <p:spPr>
          <a:xfrm>
            <a:off x="6080760" y="2168815"/>
            <a:ext cx="5532120" cy="3069009"/>
          </a:xfrm>
          <a:prstGeom prst="rect">
            <a:avLst/>
          </a:prstGeom>
        </p:spPr>
      </p:pic>
      <p:sp>
        <p:nvSpPr>
          <p:cNvPr id="15" name="TextBox 14"/>
          <p:cNvSpPr txBox="1"/>
          <p:nvPr/>
        </p:nvSpPr>
        <p:spPr>
          <a:xfrm>
            <a:off x="594360" y="5897880"/>
            <a:ext cx="11018520" cy="365760"/>
          </a:xfrm>
          <a:prstGeom prst="rect">
            <a:avLst/>
          </a:prstGeom>
          <a:noFill/>
        </p:spPr>
        <p:txBody>
          <a:bodyPr wrap="square" lIns="0" rIns="0" tIns="0" bIns="0" anchor="t">
            <a:spAutoFit/>
          </a:bodyPr>
          <a:lstStyle/>
          <a:p>
            <a:pPr algn="l">
              <a:lnSpc>
                <a:spcPct val="100000"/>
              </a:lnSpc>
            </a:pPr>
            <a:r>
              <a:rPr sz="1800" b="1">
                <a:solidFill>
                  <a:srgbClr val="1F3864"/>
                </a:solidFill>
                <a:latin typeface="Arial"/>
              </a:rPr>
              <a:t>High precision means the mask is nearly empty — not that localisation is good.</a:t>
            </a:r>
          </a:p>
        </p:txBody>
      </p:sp>
      <p:sp>
        <p:nvSpPr>
          <p:cNvPr id="16" name="Rectangle 15"/>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8" name="TextBox 17"/>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REAL SENTINEL-2</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2800" b="1">
                <a:solidFill>
                  <a:srgbClr val="1F3864"/>
                </a:solidFill>
                <a:latin typeface="Arial"/>
              </a:rPr>
              <a:t>OSCD transfer: near-empty CNN, weak spectral rules</a:t>
            </a:r>
          </a:p>
        </p:txBody>
      </p:sp>
      <p:graphicFrame>
        <p:nvGraphicFramePr>
          <p:cNvPr id="5" name="Table 4"/>
          <p:cNvGraphicFramePr>
            <a:graphicFrameLocks noGrp="1"/>
          </p:cNvGraphicFramePr>
          <p:nvPr/>
        </p:nvGraphicFramePr>
        <p:xfrm>
          <a:off x="548640" y="1508760"/>
          <a:ext cx="11109960" cy="3154680"/>
        </p:xfrm>
        <a:graphic>
          <a:graphicData uri="http://schemas.openxmlformats.org/drawingml/2006/table">
            <a:tbl>
              <a:tblPr firstRow="1" bandRow="1">
                <a:tableStyleId>{5C22544A-7EE6-4342-B048-85BDC9FD1C3A}</a:tableStyleId>
              </a:tblPr>
              <a:tblGrid>
                <a:gridCol w="2788920"/>
                <a:gridCol w="1143000"/>
                <a:gridCol w="1188720"/>
                <a:gridCol w="1051560"/>
                <a:gridCol w="2331720"/>
                <a:gridCol w="2606040"/>
              </a:tblGrid>
              <a:tr h="411480">
                <a:tc>
                  <a:txBody>
                    <a:bodyPr wrap="square"/>
                    <a:lstStyle/>
                    <a:p>
                      <a:pPr algn="l"/>
                      <a:r>
                        <a:rPr sz="1200" b="1">
                          <a:solidFill>
                            <a:srgbClr val="FFFFFF"/>
                          </a:solidFill>
                          <a:latin typeface="Arial"/>
                        </a:rPr>
                        <a:t>Method</a:t>
                      </a:r>
                    </a:p>
                  </a:txBody>
                  <a:tcPr marL="64008" marR="54864" marT="27432" marB="27432" anchor="ctr">
                    <a:solidFill>
                      <a:srgbClr val="1F3864"/>
                    </a:solidFill>
                  </a:tcPr>
                </a:tc>
                <a:tc>
                  <a:txBody>
                    <a:bodyPr wrap="square"/>
                    <a:lstStyle/>
                    <a:p>
                      <a:pPr algn="l"/>
                      <a:r>
                        <a:rPr sz="1200" b="1">
                          <a:solidFill>
                            <a:srgbClr val="FFFFFF"/>
                          </a:solidFill>
                          <a:latin typeface="Arial"/>
                        </a:rPr>
                        <a:t>Pred. %</a:t>
                      </a:r>
                    </a:p>
                  </a:txBody>
                  <a:tcPr marL="64008" marR="54864" marT="27432" marB="27432" anchor="ctr">
                    <a:solidFill>
                      <a:srgbClr val="1F3864"/>
                    </a:solidFill>
                  </a:tcPr>
                </a:tc>
                <a:tc>
                  <a:txBody>
                    <a:bodyPr wrap="square"/>
                    <a:lstStyle/>
                    <a:p>
                      <a:pPr algn="l"/>
                      <a:r>
                        <a:rPr sz="1200" b="1">
                          <a:solidFill>
                            <a:srgbClr val="FFFFFF"/>
                          </a:solidFill>
                          <a:latin typeface="Arial"/>
                        </a:rPr>
                        <a:t>Precision</a:t>
                      </a:r>
                    </a:p>
                  </a:txBody>
                  <a:tcPr marL="64008" marR="54864" marT="27432" marB="27432" anchor="ctr">
                    <a:solidFill>
                      <a:srgbClr val="1F3864"/>
                    </a:solidFill>
                  </a:tcPr>
                </a:tc>
                <a:tc>
                  <a:txBody>
                    <a:bodyPr wrap="square"/>
                    <a:lstStyle/>
                    <a:p>
                      <a:pPr algn="l"/>
                      <a:r>
                        <a:rPr sz="1200" b="1">
                          <a:solidFill>
                            <a:srgbClr val="FFFFFF"/>
                          </a:solidFill>
                          <a:latin typeface="Arial"/>
                        </a:rPr>
                        <a:t>Recall</a:t>
                      </a:r>
                    </a:p>
                  </a:txBody>
                  <a:tcPr marL="64008" marR="54864" marT="27432" marB="27432" anchor="ctr">
                    <a:solidFill>
                      <a:srgbClr val="1F3864"/>
                    </a:solidFill>
                  </a:tcPr>
                </a:tc>
                <a:tc>
                  <a:txBody>
                    <a:bodyPr wrap="square"/>
                    <a:lstStyle/>
                    <a:p>
                      <a:pPr algn="l"/>
                      <a:r>
                        <a:rPr sz="1200" b="1">
                          <a:solidFill>
                            <a:srgbClr val="FFFFFF"/>
                          </a:solidFill>
                          <a:latin typeface="Arial"/>
                        </a:rPr>
                        <a:t>Score</a:t>
                      </a:r>
                    </a:p>
                  </a:txBody>
                  <a:tcPr marL="64008" marR="54864" marT="27432" marB="27432" anchor="ctr">
                    <a:solidFill>
                      <a:srgbClr val="1F3864"/>
                    </a:solidFill>
                  </a:tcPr>
                </a:tc>
                <a:tc>
                  <a:txBody>
                    <a:bodyPr wrap="square"/>
                    <a:lstStyle/>
                    <a:p>
                      <a:pPr algn="l"/>
                      <a:r>
                        <a:rPr sz="1200" b="1">
                          <a:solidFill>
                            <a:srgbClr val="FFFFFF"/>
                          </a:solidFill>
                          <a:latin typeface="Arial"/>
                        </a:rPr>
                        <a:t>95% CI (F1)</a:t>
                      </a:r>
                    </a:p>
                  </a:txBody>
                  <a:tcPr marL="64008" marR="54864" marT="27432" marB="27432" anchor="ctr">
                    <a:solidFill>
                      <a:srgbClr val="1F3864"/>
                    </a:solidFill>
                  </a:tcPr>
                </a:tc>
              </a:tr>
              <a:tr h="457200">
                <a:tc>
                  <a:txBody>
                    <a:bodyPr wrap="square"/>
                    <a:lstStyle/>
                    <a:p>
                      <a:pPr algn="l"/>
                      <a:r>
                        <a:rPr sz="1150" b="1">
                          <a:solidFill>
                            <a:srgbClr val="262626"/>
                          </a:solidFill>
                          <a:latin typeface="Arial"/>
                        </a:rPr>
                        <a:t>Hardcoded NDVI/NDBI</a:t>
                      </a:r>
                    </a:p>
                  </a:txBody>
                  <a:tcPr marL="64008" marR="54864" marT="27432" marB="27432" anchor="ctr">
                    <a:solidFill>
                      <a:srgbClr val="FFFFFF"/>
                    </a:solidFill>
                  </a:tcPr>
                </a:tc>
                <a:tc>
                  <a:txBody>
                    <a:bodyPr wrap="square"/>
                    <a:lstStyle/>
                    <a:p>
                      <a:pPr algn="l"/>
                      <a:r>
                        <a:rPr sz="1150" b="0">
                          <a:solidFill>
                            <a:srgbClr val="262626"/>
                          </a:solidFill>
                          <a:latin typeface="Arial"/>
                        </a:rPr>
                        <a:t>2.24</a:t>
                      </a:r>
                    </a:p>
                  </a:txBody>
                  <a:tcPr marL="64008" marR="54864" marT="27432" marB="27432" anchor="ctr">
                    <a:solidFill>
                      <a:srgbClr val="FFFFFF"/>
                    </a:solidFill>
                  </a:tcPr>
                </a:tc>
                <a:tc>
                  <a:txBody>
                    <a:bodyPr wrap="square"/>
                    <a:lstStyle/>
                    <a:p>
                      <a:pPr algn="l"/>
                      <a:r>
                        <a:rPr sz="1150" b="0">
                          <a:solidFill>
                            <a:srgbClr val="262626"/>
                          </a:solidFill>
                          <a:latin typeface="Arial"/>
                        </a:rPr>
                        <a:t>0.1292</a:t>
                      </a:r>
                    </a:p>
                  </a:txBody>
                  <a:tcPr marL="64008" marR="54864" marT="27432" marB="27432" anchor="ctr">
                    <a:solidFill>
                      <a:srgbClr val="FFFFFF"/>
                    </a:solidFill>
                  </a:tcPr>
                </a:tc>
                <a:tc>
                  <a:txBody>
                    <a:bodyPr wrap="square"/>
                    <a:lstStyle/>
                    <a:p>
                      <a:pPr algn="l"/>
                      <a:r>
                        <a:rPr sz="1150" b="0">
                          <a:solidFill>
                            <a:srgbClr val="262626"/>
                          </a:solidFill>
                          <a:latin typeface="Arial"/>
                        </a:rPr>
                        <a:t>0.0561</a:t>
                      </a:r>
                    </a:p>
                  </a:txBody>
                  <a:tcPr marL="64008" marR="54864" marT="27432" marB="27432" anchor="ctr">
                    <a:solidFill>
                      <a:srgbClr val="FFFFFF"/>
                    </a:solidFill>
                  </a:tcPr>
                </a:tc>
                <a:tc>
                  <a:txBody>
                    <a:bodyPr wrap="square"/>
                    <a:lstStyle/>
                    <a:p>
                      <a:pPr algn="l"/>
                      <a:r>
                        <a:rPr sz="1150" b="1">
                          <a:solidFill>
                            <a:srgbClr val="262626"/>
                          </a:solidFill>
                          <a:latin typeface="Arial"/>
                        </a:rPr>
                        <a:t>F1 0.0782</a:t>
                      </a:r>
                    </a:p>
                  </a:txBody>
                  <a:tcPr marL="64008" marR="54864" marT="27432" marB="27432" anchor="ctr">
                    <a:solidFill>
                      <a:srgbClr val="FFFFFF"/>
                    </a:solidFill>
                  </a:tcPr>
                </a:tc>
                <a:tc>
                  <a:txBody>
                    <a:bodyPr wrap="square"/>
                    <a:lstStyle/>
                    <a:p>
                      <a:pPr algn="l"/>
                      <a:r>
                        <a:rPr sz="1150" b="0">
                          <a:solidFill>
                            <a:srgbClr val="262626"/>
                          </a:solidFill>
                          <a:latin typeface="Arial"/>
                        </a:rPr>
                        <a:t>0.0168–0.1846</a:t>
                      </a:r>
                    </a:p>
                  </a:txBody>
                  <a:tcPr marL="64008" marR="54864" marT="27432" marB="27432" anchor="ctr">
                    <a:solidFill>
                      <a:srgbClr val="FFFFFF"/>
                    </a:solidFill>
                  </a:tcPr>
                </a:tc>
              </a:tr>
              <a:tr h="457200">
                <a:tc>
                  <a:txBody>
                    <a:bodyPr wrap="square"/>
                    <a:lstStyle/>
                    <a:p>
                      <a:pPr algn="l"/>
                      <a:r>
                        <a:rPr sz="1150" b="1">
                          <a:solidFill>
                            <a:srgbClr val="262626"/>
                          </a:solidFill>
                          <a:latin typeface="Arial"/>
                        </a:rPr>
                        <a:t>Percentile 99.0</a:t>
                      </a:r>
                    </a:p>
                  </a:txBody>
                  <a:tcPr marL="64008" marR="54864" marT="27432" marB="27432" anchor="ctr">
                    <a:solidFill>
                      <a:srgbClr val="EAF1F8"/>
                    </a:solidFill>
                  </a:tcPr>
                </a:tc>
                <a:tc>
                  <a:txBody>
                    <a:bodyPr wrap="square"/>
                    <a:lstStyle/>
                    <a:p>
                      <a:pPr algn="l"/>
                      <a:r>
                        <a:rPr sz="1150" b="0">
                          <a:solidFill>
                            <a:srgbClr val="262626"/>
                          </a:solidFill>
                          <a:latin typeface="Arial"/>
                        </a:rPr>
                        <a:t>1.66</a:t>
                      </a:r>
                    </a:p>
                  </a:txBody>
                  <a:tcPr marL="64008" marR="54864" marT="27432" marB="27432" anchor="ctr">
                    <a:solidFill>
                      <a:srgbClr val="EAF1F8"/>
                    </a:solidFill>
                  </a:tcPr>
                </a:tc>
                <a:tc>
                  <a:txBody>
                    <a:bodyPr wrap="square"/>
                    <a:lstStyle/>
                    <a:p>
                      <a:pPr algn="l"/>
                      <a:r>
                        <a:rPr sz="1150" b="0">
                          <a:solidFill>
                            <a:srgbClr val="262626"/>
                          </a:solidFill>
                          <a:latin typeface="Arial"/>
                        </a:rPr>
                        <a:t>0.2419</a:t>
                      </a:r>
                    </a:p>
                  </a:txBody>
                  <a:tcPr marL="64008" marR="54864" marT="27432" marB="27432" anchor="ctr">
                    <a:solidFill>
                      <a:srgbClr val="EAF1F8"/>
                    </a:solidFill>
                  </a:tcPr>
                </a:tc>
                <a:tc>
                  <a:txBody>
                    <a:bodyPr wrap="square"/>
                    <a:lstStyle/>
                    <a:p>
                      <a:pPr algn="l"/>
                      <a:r>
                        <a:rPr sz="1150" b="0">
                          <a:solidFill>
                            <a:srgbClr val="262626"/>
                          </a:solidFill>
                          <a:latin typeface="Arial"/>
                        </a:rPr>
                        <a:t>0.0777</a:t>
                      </a:r>
                    </a:p>
                  </a:txBody>
                  <a:tcPr marL="64008" marR="54864" marT="27432" marB="27432" anchor="ctr">
                    <a:solidFill>
                      <a:srgbClr val="EAF1F8"/>
                    </a:solidFill>
                  </a:tcPr>
                </a:tc>
                <a:tc>
                  <a:txBody>
                    <a:bodyPr wrap="square"/>
                    <a:lstStyle/>
                    <a:p>
                      <a:pPr algn="l"/>
                      <a:r>
                        <a:rPr sz="1150" b="1">
                          <a:solidFill>
                            <a:srgbClr val="262626"/>
                          </a:solidFill>
                          <a:latin typeface="Arial"/>
                        </a:rPr>
                        <a:t>F1 0.1176</a:t>
                      </a:r>
                    </a:p>
                  </a:txBody>
                  <a:tcPr marL="64008" marR="54864" marT="27432" marB="27432" anchor="ctr">
                    <a:solidFill>
                      <a:srgbClr val="EAF1F8"/>
                    </a:solidFill>
                  </a:tcPr>
                </a:tc>
                <a:tc>
                  <a:txBody>
                    <a:bodyPr wrap="square"/>
                    <a:lstStyle/>
                    <a:p>
                      <a:pPr algn="l"/>
                      <a:r>
                        <a:rPr sz="1150" b="0">
                          <a:solidFill>
                            <a:srgbClr val="262626"/>
                          </a:solidFill>
                          <a:latin typeface="Arial"/>
                        </a:rPr>
                        <a:t>0.0540–0.1802</a:t>
                      </a:r>
                    </a:p>
                  </a:txBody>
                  <a:tcPr marL="64008" marR="54864" marT="27432" marB="27432" anchor="ctr">
                    <a:solidFill>
                      <a:srgbClr val="EAF1F8"/>
                    </a:solidFill>
                  </a:tcPr>
                </a:tc>
              </a:tr>
              <a:tr h="457200">
                <a:tc>
                  <a:txBody>
                    <a:bodyPr wrap="square"/>
                    <a:lstStyle/>
                    <a:p>
                      <a:pPr algn="l"/>
                      <a:r>
                        <a:rPr sz="1150" b="1">
                          <a:solidFill>
                            <a:srgbClr val="262626"/>
                          </a:solidFill>
                          <a:latin typeface="Arial"/>
                        </a:rPr>
                        <a:t>Otsu</a:t>
                      </a:r>
                    </a:p>
                  </a:txBody>
                  <a:tcPr marL="64008" marR="54864" marT="27432" marB="27432" anchor="ctr">
                    <a:solidFill>
                      <a:srgbClr val="FBE5D6"/>
                    </a:solidFill>
                  </a:tcPr>
                </a:tc>
                <a:tc>
                  <a:txBody>
                    <a:bodyPr wrap="square"/>
                    <a:lstStyle/>
                    <a:p>
                      <a:pPr algn="l"/>
                      <a:r>
                        <a:rPr sz="1150" b="0">
                          <a:solidFill>
                            <a:srgbClr val="262626"/>
                          </a:solidFill>
                          <a:latin typeface="Arial"/>
                        </a:rPr>
                        <a:t>67.35</a:t>
                      </a:r>
                    </a:p>
                  </a:txBody>
                  <a:tcPr marL="64008" marR="54864" marT="27432" marB="27432" anchor="ctr">
                    <a:solidFill>
                      <a:srgbClr val="FBE5D6"/>
                    </a:solidFill>
                  </a:tcPr>
                </a:tc>
                <a:tc>
                  <a:txBody>
                    <a:bodyPr wrap="square"/>
                    <a:lstStyle/>
                    <a:p>
                      <a:pPr algn="l"/>
                      <a:r>
                        <a:rPr sz="1150" b="0">
                          <a:solidFill>
                            <a:srgbClr val="262626"/>
                          </a:solidFill>
                          <a:latin typeface="Arial"/>
                        </a:rPr>
                        <a:t>0.0513</a:t>
                      </a:r>
                    </a:p>
                  </a:txBody>
                  <a:tcPr marL="64008" marR="54864" marT="27432" marB="27432" anchor="ctr">
                    <a:solidFill>
                      <a:srgbClr val="FBE5D6"/>
                    </a:solidFill>
                  </a:tcPr>
                </a:tc>
                <a:tc>
                  <a:txBody>
                    <a:bodyPr wrap="square"/>
                    <a:lstStyle/>
                    <a:p>
                      <a:pPr algn="l"/>
                      <a:r>
                        <a:rPr sz="1150" b="0">
                          <a:solidFill>
                            <a:srgbClr val="262626"/>
                          </a:solidFill>
                          <a:latin typeface="Arial"/>
                        </a:rPr>
                        <a:t>0.6684</a:t>
                      </a:r>
                    </a:p>
                  </a:txBody>
                  <a:tcPr marL="64008" marR="54864" marT="27432" marB="27432" anchor="ctr">
                    <a:solidFill>
                      <a:srgbClr val="FBE5D6"/>
                    </a:solidFill>
                  </a:tcPr>
                </a:tc>
                <a:tc>
                  <a:txBody>
                    <a:bodyPr wrap="square"/>
                    <a:lstStyle/>
                    <a:p>
                      <a:pPr algn="l"/>
                      <a:r>
                        <a:rPr sz="1150" b="1">
                          <a:solidFill>
                            <a:srgbClr val="262626"/>
                          </a:solidFill>
                          <a:latin typeface="Arial"/>
                        </a:rPr>
                        <a:t>OA 0.3439</a:t>
                      </a:r>
                    </a:p>
                  </a:txBody>
                  <a:tcPr marL="64008" marR="54864" marT="27432" marB="27432" anchor="ctr">
                    <a:solidFill>
                      <a:srgbClr val="FBE5D6"/>
                    </a:solidFill>
                  </a:tcPr>
                </a:tc>
                <a:tc>
                  <a:txBody>
                    <a:bodyPr wrap="square"/>
                    <a:lstStyle/>
                    <a:p>
                      <a:pPr algn="l"/>
                      <a:r>
                        <a:rPr sz="1150" b="0">
                          <a:solidFill>
                            <a:srgbClr val="262626"/>
                          </a:solidFill>
                          <a:latin typeface="Arial"/>
                        </a:rPr>
                        <a:t>F1 0.0953; 0.0495–0.1245</a:t>
                      </a:r>
                    </a:p>
                  </a:txBody>
                  <a:tcPr marL="64008" marR="54864" marT="27432" marB="27432" anchor="ctr">
                    <a:solidFill>
                      <a:srgbClr val="FBE5D6"/>
                    </a:solidFill>
                  </a:tcPr>
                </a:tc>
              </a:tr>
              <a:tr h="457200">
                <a:tc>
                  <a:txBody>
                    <a:bodyPr wrap="square"/>
                    <a:lstStyle/>
                    <a:p>
                      <a:pPr algn="l"/>
                      <a:r>
                        <a:rPr sz="1150" b="1">
                          <a:solidFill>
                            <a:srgbClr val="262626"/>
                          </a:solidFill>
                          <a:latin typeface="Arial"/>
                        </a:rPr>
                        <a:t>CNN joint percentile</a:t>
                      </a:r>
                    </a:p>
                  </a:txBody>
                  <a:tcPr marL="64008" marR="54864" marT="27432" marB="27432" anchor="ctr">
                    <a:solidFill>
                      <a:srgbClr val="EAF1F8"/>
                    </a:solidFill>
                  </a:tcPr>
                </a:tc>
                <a:tc>
                  <a:txBody>
                    <a:bodyPr wrap="square"/>
                    <a:lstStyle/>
                    <a:p>
                      <a:pPr algn="l"/>
                      <a:r>
                        <a:rPr sz="1150" b="0">
                          <a:solidFill>
                            <a:srgbClr val="262626"/>
                          </a:solidFill>
                          <a:latin typeface="Arial"/>
                        </a:rPr>
                        <a:t>0.01</a:t>
                      </a:r>
                    </a:p>
                  </a:txBody>
                  <a:tcPr marL="64008" marR="54864" marT="27432" marB="27432" anchor="ctr">
                    <a:solidFill>
                      <a:srgbClr val="EAF1F8"/>
                    </a:solidFill>
                  </a:tcPr>
                </a:tc>
                <a:tc>
                  <a:txBody>
                    <a:bodyPr wrap="square"/>
                    <a:lstStyle/>
                    <a:p>
                      <a:pPr algn="l"/>
                      <a:r>
                        <a:rPr sz="1150" b="0">
                          <a:solidFill>
                            <a:srgbClr val="262626"/>
                          </a:solidFill>
                          <a:latin typeface="Arial"/>
                        </a:rPr>
                        <a:t>0.2983</a:t>
                      </a:r>
                    </a:p>
                  </a:txBody>
                  <a:tcPr marL="64008" marR="54864" marT="27432" marB="27432" anchor="ctr">
                    <a:solidFill>
                      <a:srgbClr val="EAF1F8"/>
                    </a:solidFill>
                  </a:tcPr>
                </a:tc>
                <a:tc>
                  <a:txBody>
                    <a:bodyPr wrap="square"/>
                    <a:lstStyle/>
                    <a:p>
                      <a:pPr algn="l"/>
                      <a:r>
                        <a:rPr sz="1150" b="0">
                          <a:solidFill>
                            <a:srgbClr val="262626"/>
                          </a:solidFill>
                          <a:latin typeface="Arial"/>
                        </a:rPr>
                        <a:t>0.0003</a:t>
                      </a:r>
                    </a:p>
                  </a:txBody>
                  <a:tcPr marL="64008" marR="54864" marT="27432" marB="27432" anchor="ctr">
                    <a:solidFill>
                      <a:srgbClr val="EAF1F8"/>
                    </a:solidFill>
                  </a:tcPr>
                </a:tc>
                <a:tc>
                  <a:txBody>
                    <a:bodyPr wrap="square"/>
                    <a:lstStyle/>
                    <a:p>
                      <a:pPr algn="l"/>
                      <a:r>
                        <a:rPr sz="1150" b="0">
                          <a:solidFill>
                            <a:srgbClr val="262626"/>
                          </a:solidFill>
                          <a:latin typeface="Arial"/>
                        </a:rPr>
                        <a:t>F1 0.0007</a:t>
                      </a:r>
                    </a:p>
                  </a:txBody>
                  <a:tcPr marL="64008" marR="54864" marT="27432" marB="27432" anchor="ctr">
                    <a:solidFill>
                      <a:srgbClr val="EAF1F8"/>
                    </a:solidFill>
                  </a:tcPr>
                </a:tc>
                <a:tc>
                  <a:txBody>
                    <a:bodyPr wrap="square"/>
                    <a:lstStyle/>
                    <a:p>
                      <a:pPr algn="l"/>
                      <a:r>
                        <a:rPr sz="1150" b="0">
                          <a:solidFill>
                            <a:srgbClr val="262626"/>
                          </a:solidFill>
                          <a:latin typeface="Arial"/>
                        </a:rPr>
                        <a:t>0.0000–0.0017</a:t>
                      </a:r>
                    </a:p>
                  </a:txBody>
                  <a:tcPr marL="64008" marR="54864" marT="27432" marB="27432" anchor="ctr">
                    <a:solidFill>
                      <a:srgbClr val="EAF1F8"/>
                    </a:solidFill>
                  </a:tcPr>
                </a:tc>
              </a:tr>
              <a:tr h="457200">
                <a:tc>
                  <a:txBody>
                    <a:bodyPr wrap="square"/>
                    <a:lstStyle/>
                    <a:p>
                      <a:pPr algn="l"/>
                      <a:r>
                        <a:rPr sz="1150" b="1">
                          <a:solidFill>
                            <a:srgbClr val="262626"/>
                          </a:solidFill>
                          <a:latin typeface="Arial"/>
                        </a:rPr>
                        <a:t>CNN reflectance</a:t>
                      </a:r>
                    </a:p>
                  </a:txBody>
                  <a:tcPr marL="64008" marR="54864" marT="27432" marB="27432" anchor="ctr">
                    <a:solidFill>
                      <a:srgbClr val="FFFFFF"/>
                    </a:solidFill>
                  </a:tcPr>
                </a:tc>
                <a:tc>
                  <a:txBody>
                    <a:bodyPr wrap="square"/>
                    <a:lstStyle/>
                    <a:p>
                      <a:pPr algn="l"/>
                      <a:r>
                        <a:rPr sz="1150" b="0">
                          <a:solidFill>
                            <a:srgbClr val="262626"/>
                          </a:solidFill>
                          <a:latin typeface="Arial"/>
                        </a:rPr>
                        <a:t>0.00</a:t>
                      </a:r>
                    </a:p>
                  </a:txBody>
                  <a:tcPr marL="64008" marR="54864" marT="27432" marB="27432" anchor="ctr">
                    <a:solidFill>
                      <a:srgbClr val="FFFFFF"/>
                    </a:solidFill>
                  </a:tcPr>
                </a:tc>
                <a:tc>
                  <a:txBody>
                    <a:bodyPr wrap="square"/>
                    <a:lstStyle/>
                    <a:p>
                      <a:pPr algn="l"/>
                      <a:r>
                        <a:rPr sz="1150" b="0">
                          <a:solidFill>
                            <a:srgbClr val="262626"/>
                          </a:solidFill>
                          <a:latin typeface="Arial"/>
                        </a:rPr>
                        <a:t>—</a:t>
                      </a:r>
                    </a:p>
                  </a:txBody>
                  <a:tcPr marL="64008" marR="54864" marT="27432" marB="27432" anchor="ctr">
                    <a:solidFill>
                      <a:srgbClr val="FFFFFF"/>
                    </a:solidFill>
                  </a:tcPr>
                </a:tc>
                <a:tc>
                  <a:txBody>
                    <a:bodyPr wrap="square"/>
                    <a:lstStyle/>
                    <a:p>
                      <a:pPr algn="l"/>
                      <a:r>
                        <a:rPr sz="1150" b="0">
                          <a:solidFill>
                            <a:srgbClr val="262626"/>
                          </a:solidFill>
                          <a:latin typeface="Arial"/>
                        </a:rPr>
                        <a:t>0.0000</a:t>
                      </a:r>
                    </a:p>
                  </a:txBody>
                  <a:tcPr marL="64008" marR="54864" marT="27432" marB="27432" anchor="ctr">
                    <a:solidFill>
                      <a:srgbClr val="FFFFFF"/>
                    </a:solidFill>
                  </a:tcPr>
                </a:tc>
                <a:tc>
                  <a:txBody>
                    <a:bodyPr wrap="square"/>
                    <a:lstStyle/>
                    <a:p>
                      <a:pPr algn="l"/>
                      <a:r>
                        <a:rPr sz="1150" b="0">
                          <a:solidFill>
                            <a:srgbClr val="262626"/>
                          </a:solidFill>
                          <a:latin typeface="Arial"/>
                        </a:rPr>
                        <a:t>F1 0.0000</a:t>
                      </a:r>
                    </a:p>
                  </a:txBody>
                  <a:tcPr marL="64008" marR="54864" marT="27432" marB="27432" anchor="ctr">
                    <a:solidFill>
                      <a:srgbClr val="FFFFFF"/>
                    </a:solidFill>
                  </a:tcPr>
                </a:tc>
                <a:tc>
                  <a:txBody>
                    <a:bodyPr wrap="square"/>
                    <a:lstStyle/>
                    <a:p>
                      <a:pPr algn="l"/>
                      <a:r>
                        <a:rPr sz="1150" b="0">
                          <a:solidFill>
                            <a:srgbClr val="262626"/>
                          </a:solidFill>
                          <a:latin typeface="Arial"/>
                        </a:rPr>
                        <a:t>—</a:t>
                      </a:r>
                    </a:p>
                  </a:txBody>
                  <a:tcPr marL="64008" marR="54864" marT="27432" marB="27432" anchor="ctr">
                    <a:solidFill>
                      <a:srgbClr val="FFFFFF"/>
                    </a:solidFill>
                  </a:tcPr>
                </a:tc>
              </a:tr>
              <a:tr h="457200">
                <a:tc>
                  <a:txBody>
                    <a:bodyPr wrap="square"/>
                    <a:lstStyle/>
                    <a:p>
                      <a:pPr algn="l"/>
                      <a:r>
                        <a:rPr sz="1150" b="1">
                          <a:solidFill>
                            <a:srgbClr val="262626"/>
                          </a:solidFill>
                          <a:latin typeface="Arial"/>
                        </a:rPr>
                        <a:t>Random at prevalence</a:t>
                      </a:r>
                    </a:p>
                  </a:txBody>
                  <a:tcPr marL="64008" marR="54864" marT="27432" marB="27432" anchor="ctr">
                    <a:solidFill>
                      <a:srgbClr val="EAF1F8"/>
                    </a:solidFill>
                  </a:tcPr>
                </a:tc>
                <a:tc>
                  <a:txBody>
                    <a:bodyPr wrap="square"/>
                    <a:lstStyle/>
                    <a:p>
                      <a:pPr algn="l"/>
                      <a:r>
                        <a:rPr sz="1150" b="0">
                          <a:solidFill>
                            <a:srgbClr val="262626"/>
                          </a:solidFill>
                          <a:latin typeface="Arial"/>
                        </a:rPr>
                        <a:t>5.17</a:t>
                      </a:r>
                    </a:p>
                  </a:txBody>
                  <a:tcPr marL="64008" marR="54864" marT="27432" marB="27432" anchor="ctr">
                    <a:solidFill>
                      <a:srgbClr val="EAF1F8"/>
                    </a:solidFill>
                  </a:tcPr>
                </a:tc>
                <a:tc>
                  <a:txBody>
                    <a:bodyPr wrap="square"/>
                    <a:lstStyle/>
                    <a:p>
                      <a:pPr algn="l"/>
                      <a:r>
                        <a:rPr sz="1150" b="0">
                          <a:solidFill>
                            <a:srgbClr val="262626"/>
                          </a:solidFill>
                          <a:latin typeface="Arial"/>
                        </a:rPr>
                        <a:t>0.0517</a:t>
                      </a:r>
                    </a:p>
                  </a:txBody>
                  <a:tcPr marL="64008" marR="54864" marT="27432" marB="27432" anchor="ctr">
                    <a:solidFill>
                      <a:srgbClr val="EAF1F8"/>
                    </a:solidFill>
                  </a:tcPr>
                </a:tc>
                <a:tc>
                  <a:txBody>
                    <a:bodyPr wrap="square"/>
                    <a:lstStyle/>
                    <a:p>
                      <a:pPr algn="l"/>
                      <a:r>
                        <a:rPr sz="1150" b="0">
                          <a:solidFill>
                            <a:srgbClr val="262626"/>
                          </a:solidFill>
                          <a:latin typeface="Arial"/>
                        </a:rPr>
                        <a:t>0.0517</a:t>
                      </a:r>
                    </a:p>
                  </a:txBody>
                  <a:tcPr marL="64008" marR="54864" marT="27432" marB="27432" anchor="ctr">
                    <a:solidFill>
                      <a:srgbClr val="EAF1F8"/>
                    </a:solidFill>
                  </a:tcPr>
                </a:tc>
                <a:tc>
                  <a:txBody>
                    <a:bodyPr wrap="square"/>
                    <a:lstStyle/>
                    <a:p>
                      <a:pPr algn="l"/>
                      <a:r>
                        <a:rPr sz="1150" b="0">
                          <a:solidFill>
                            <a:srgbClr val="262626"/>
                          </a:solidFill>
                          <a:latin typeface="Arial"/>
                        </a:rPr>
                        <a:t>F1 0.0517</a:t>
                      </a:r>
                    </a:p>
                  </a:txBody>
                  <a:tcPr marL="64008" marR="54864" marT="27432" marB="27432" anchor="ctr">
                    <a:solidFill>
                      <a:srgbClr val="EAF1F8"/>
                    </a:solidFill>
                  </a:tcPr>
                </a:tc>
                <a:tc>
                  <a:txBody>
                    <a:bodyPr wrap="square"/>
                    <a:lstStyle/>
                    <a:p>
                      <a:pPr algn="l"/>
                      <a:r>
                        <a:rPr sz="1150" b="0">
                          <a:solidFill>
                            <a:srgbClr val="262626"/>
                          </a:solidFill>
                          <a:latin typeface="Arial"/>
                        </a:rPr>
                        <a:t>—</a:t>
                      </a:r>
                    </a:p>
                  </a:txBody>
                  <a:tcPr marL="64008" marR="54864" marT="27432" marB="27432" anchor="ctr">
                    <a:solidFill>
                      <a:srgbClr val="EAF1F8"/>
                    </a:solidFill>
                  </a:tcPr>
                </a:tc>
              </a:tr>
            </a:tbl>
          </a:graphicData>
        </a:graphic>
      </p:graphicFrame>
      <p:sp>
        <p:nvSpPr>
          <p:cNvPr id="6" name="TextBox 5"/>
          <p:cNvSpPr txBox="1"/>
          <p:nvPr/>
        </p:nvSpPr>
        <p:spPr>
          <a:xfrm>
            <a:off x="594360" y="5349240"/>
            <a:ext cx="11064240" cy="320040"/>
          </a:xfrm>
          <a:prstGeom prst="rect">
            <a:avLst/>
          </a:prstGeom>
          <a:noFill/>
        </p:spPr>
        <p:txBody>
          <a:bodyPr wrap="square" lIns="0" rIns="0" tIns="0" bIns="0" anchor="t">
            <a:spAutoFit/>
          </a:bodyPr>
          <a:lstStyle/>
          <a:p>
            <a:pPr algn="l">
              <a:lnSpc>
                <a:spcPct val="100000"/>
              </a:lnSpc>
            </a:pPr>
            <a:r>
              <a:rPr sz="1500" b="1">
                <a:solidFill>
                  <a:srgbClr val="1F3864"/>
                </a:solidFill>
                <a:latin typeface="Arial"/>
              </a:rPr>
              <a:t>True change 5.17%  ·  10 official test cities  ·  3,077,936 pixels</a:t>
            </a:r>
          </a:p>
        </p:txBody>
      </p:sp>
      <p:sp>
        <p:nvSpPr>
          <p:cNvPr id="7" name="TextBox 6"/>
          <p:cNvSpPr txBox="1"/>
          <p:nvPr/>
        </p:nvSpPr>
        <p:spPr>
          <a:xfrm>
            <a:off x="594360" y="5742432"/>
            <a:ext cx="11064240" cy="548640"/>
          </a:xfrm>
          <a:prstGeom prst="rect">
            <a:avLst/>
          </a:prstGeom>
          <a:noFill/>
        </p:spPr>
        <p:txBody>
          <a:bodyPr wrap="square" lIns="0" rIns="0" tIns="0" bIns="0" anchor="t">
            <a:spAutoFit/>
          </a:bodyPr>
          <a:lstStyle/>
          <a:p>
            <a:pPr algn="l">
              <a:lnSpc>
                <a:spcPct val="100000"/>
              </a:lnSpc>
            </a:pPr>
            <a:r>
              <a:rPr sz="1300" b="1">
                <a:solidFill>
                  <a:srgbClr val="C55A11"/>
                </a:solidFill>
                <a:latin typeface="Arial"/>
              </a:rPr>
              <a:t>The test cities had been scored before the reported run. These are descriptive scores, not an independent test.</a:t>
            </a:r>
          </a:p>
        </p:txBody>
      </p:sp>
      <p:sp>
        <p:nvSpPr>
          <p:cNvPr id="8" name="Rectangle 7"/>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0" name="TextBox 9"/>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CITY-LEVEL VARIATION</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2800" b="1">
                <a:solidFill>
                  <a:srgbClr val="1F3864"/>
                </a:solidFill>
                <a:latin typeface="Arial"/>
              </a:rPr>
              <a:t>Pooled scores hide large, inconsistent city differences</a:t>
            </a:r>
          </a:p>
        </p:txBody>
      </p:sp>
      <p:pic>
        <p:nvPicPr>
          <p:cNvPr id="5" name="Picture 4" descr="city_f1_slide.png"/>
          <p:cNvPicPr>
            <a:picLocks noChangeAspect="1"/>
          </p:cNvPicPr>
          <p:nvPr/>
        </p:nvPicPr>
        <p:blipFill>
          <a:blip r:embed="rId2"/>
          <a:stretch>
            <a:fillRect/>
          </a:stretch>
        </p:blipFill>
        <p:spPr>
          <a:xfrm>
            <a:off x="457200" y="1611442"/>
            <a:ext cx="7132320" cy="4275196"/>
          </a:xfrm>
          <a:prstGeom prst="rect">
            <a:avLst/>
          </a:prstGeom>
        </p:spPr>
      </p:pic>
      <p:sp>
        <p:nvSpPr>
          <p:cNvPr id="6" name="Rounded Rectangle 5"/>
          <p:cNvSpPr/>
          <p:nvPr/>
        </p:nvSpPr>
        <p:spPr>
          <a:xfrm>
            <a:off x="7818120" y="1600200"/>
            <a:ext cx="3794760" cy="438912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92440" y="1810512"/>
            <a:ext cx="3246120" cy="274320"/>
          </a:xfrm>
          <a:prstGeom prst="rect">
            <a:avLst/>
          </a:prstGeom>
          <a:noFill/>
        </p:spPr>
        <p:txBody>
          <a:bodyPr wrap="square" lIns="0" rIns="0" tIns="0" bIns="0" anchor="t">
            <a:spAutoFit/>
          </a:bodyPr>
          <a:lstStyle/>
          <a:p>
            <a:pPr algn="l">
              <a:lnSpc>
                <a:spcPct val="100000"/>
              </a:lnSpc>
            </a:pPr>
            <a:r>
              <a:rPr sz="1100" b="1">
                <a:solidFill>
                  <a:srgbClr val="2E75B6"/>
                </a:solidFill>
                <a:latin typeface="Arial"/>
              </a:rPr>
              <a:t>F1 ACROSS 10 CITIES</a:t>
            </a:r>
          </a:p>
        </p:txBody>
      </p:sp>
      <p:sp>
        <p:nvSpPr>
          <p:cNvPr id="8" name="TextBox 7"/>
          <p:cNvSpPr txBox="1"/>
          <p:nvPr/>
        </p:nvSpPr>
        <p:spPr>
          <a:xfrm>
            <a:off x="8092440" y="2194560"/>
            <a:ext cx="3291840" cy="256032"/>
          </a:xfrm>
          <a:prstGeom prst="rect">
            <a:avLst/>
          </a:prstGeom>
          <a:noFill/>
        </p:spPr>
        <p:txBody>
          <a:bodyPr wrap="square" lIns="0" rIns="0" tIns="0" bIns="0" anchor="t">
            <a:spAutoFit/>
          </a:bodyPr>
          <a:lstStyle/>
          <a:p>
            <a:pPr algn="l">
              <a:lnSpc>
                <a:spcPct val="100000"/>
              </a:lnSpc>
            </a:pPr>
            <a:r>
              <a:rPr sz="1200" b="1">
                <a:solidFill>
                  <a:srgbClr val="595959"/>
                </a:solidFill>
                <a:latin typeface="Arial"/>
              </a:rPr>
              <a:t>Percentile</a:t>
            </a:r>
          </a:p>
        </p:txBody>
      </p:sp>
      <p:sp>
        <p:nvSpPr>
          <p:cNvPr id="9" name="TextBox 8"/>
          <p:cNvSpPr txBox="1"/>
          <p:nvPr/>
        </p:nvSpPr>
        <p:spPr>
          <a:xfrm>
            <a:off x="8092440" y="2441448"/>
            <a:ext cx="3291840" cy="320040"/>
          </a:xfrm>
          <a:prstGeom prst="rect">
            <a:avLst/>
          </a:prstGeom>
          <a:noFill/>
        </p:spPr>
        <p:txBody>
          <a:bodyPr wrap="square" lIns="0" rIns="0" tIns="0" bIns="0" anchor="t">
            <a:spAutoFit/>
          </a:bodyPr>
          <a:lstStyle/>
          <a:p>
            <a:pPr algn="l">
              <a:lnSpc>
                <a:spcPct val="100000"/>
              </a:lnSpc>
            </a:pPr>
            <a:r>
              <a:rPr sz="1600" b="1">
                <a:solidFill>
                  <a:srgbClr val="1F3864"/>
                </a:solidFill>
                <a:latin typeface="Arial"/>
              </a:rPr>
              <a:t>0.0005 – 0.2481</a:t>
            </a:r>
          </a:p>
        </p:txBody>
      </p:sp>
      <p:sp>
        <p:nvSpPr>
          <p:cNvPr id="10" name="TextBox 9"/>
          <p:cNvSpPr txBox="1"/>
          <p:nvPr/>
        </p:nvSpPr>
        <p:spPr>
          <a:xfrm>
            <a:off x="8092440" y="2971800"/>
            <a:ext cx="3291840" cy="256032"/>
          </a:xfrm>
          <a:prstGeom prst="rect">
            <a:avLst/>
          </a:prstGeom>
          <a:noFill/>
        </p:spPr>
        <p:txBody>
          <a:bodyPr wrap="square" lIns="0" rIns="0" tIns="0" bIns="0" anchor="t">
            <a:spAutoFit/>
          </a:bodyPr>
          <a:lstStyle/>
          <a:p>
            <a:pPr algn="l">
              <a:lnSpc>
                <a:spcPct val="100000"/>
              </a:lnSpc>
            </a:pPr>
            <a:r>
              <a:rPr sz="1200" b="1">
                <a:solidFill>
                  <a:srgbClr val="595959"/>
                </a:solidFill>
                <a:latin typeface="Arial"/>
              </a:rPr>
              <a:t>Hardcoded</a:t>
            </a:r>
          </a:p>
        </p:txBody>
      </p:sp>
      <p:sp>
        <p:nvSpPr>
          <p:cNvPr id="11" name="TextBox 10"/>
          <p:cNvSpPr txBox="1"/>
          <p:nvPr/>
        </p:nvSpPr>
        <p:spPr>
          <a:xfrm>
            <a:off x="8092440" y="3218688"/>
            <a:ext cx="3291840" cy="320040"/>
          </a:xfrm>
          <a:prstGeom prst="rect">
            <a:avLst/>
          </a:prstGeom>
          <a:noFill/>
        </p:spPr>
        <p:txBody>
          <a:bodyPr wrap="square" lIns="0" rIns="0" tIns="0" bIns="0" anchor="t">
            <a:spAutoFit/>
          </a:bodyPr>
          <a:lstStyle/>
          <a:p>
            <a:pPr algn="l">
              <a:lnSpc>
                <a:spcPct val="100000"/>
              </a:lnSpc>
            </a:pPr>
            <a:r>
              <a:rPr sz="1600" b="1">
                <a:solidFill>
                  <a:srgbClr val="1F3864"/>
                </a:solidFill>
                <a:latin typeface="Arial"/>
              </a:rPr>
              <a:t>0.0032 – 0.3102</a:t>
            </a:r>
          </a:p>
        </p:txBody>
      </p:sp>
      <p:sp>
        <p:nvSpPr>
          <p:cNvPr id="12" name="TextBox 11"/>
          <p:cNvSpPr txBox="1"/>
          <p:nvPr/>
        </p:nvSpPr>
        <p:spPr>
          <a:xfrm>
            <a:off x="8092440" y="3749039"/>
            <a:ext cx="3291840" cy="256032"/>
          </a:xfrm>
          <a:prstGeom prst="rect">
            <a:avLst/>
          </a:prstGeom>
          <a:noFill/>
        </p:spPr>
        <p:txBody>
          <a:bodyPr wrap="square" lIns="0" rIns="0" tIns="0" bIns="0" anchor="t">
            <a:spAutoFit/>
          </a:bodyPr>
          <a:lstStyle/>
          <a:p>
            <a:pPr algn="l">
              <a:lnSpc>
                <a:spcPct val="100000"/>
              </a:lnSpc>
            </a:pPr>
            <a:r>
              <a:rPr sz="1200" b="1">
                <a:solidFill>
                  <a:srgbClr val="595959"/>
                </a:solidFill>
                <a:latin typeface="Arial"/>
              </a:rPr>
              <a:t>Random (analytic)</a:t>
            </a:r>
          </a:p>
        </p:txBody>
      </p:sp>
      <p:sp>
        <p:nvSpPr>
          <p:cNvPr id="13" name="TextBox 12"/>
          <p:cNvSpPr txBox="1"/>
          <p:nvPr/>
        </p:nvSpPr>
        <p:spPr>
          <a:xfrm>
            <a:off x="8092440" y="3995927"/>
            <a:ext cx="3291840" cy="320040"/>
          </a:xfrm>
          <a:prstGeom prst="rect">
            <a:avLst/>
          </a:prstGeom>
          <a:noFill/>
        </p:spPr>
        <p:txBody>
          <a:bodyPr wrap="square" lIns="0" rIns="0" tIns="0" bIns="0" anchor="t">
            <a:spAutoFit/>
          </a:bodyPr>
          <a:lstStyle/>
          <a:p>
            <a:pPr algn="l">
              <a:lnSpc>
                <a:spcPct val="100000"/>
              </a:lnSpc>
            </a:pPr>
            <a:r>
              <a:rPr sz="1600" b="1">
                <a:solidFill>
                  <a:srgbClr val="1F3864"/>
                </a:solidFill>
                <a:latin typeface="Arial"/>
              </a:rPr>
              <a:t>0.0517</a:t>
            </a:r>
          </a:p>
        </p:txBody>
      </p:sp>
      <p:sp>
        <p:nvSpPr>
          <p:cNvPr id="14" name="TextBox 13"/>
          <p:cNvSpPr txBox="1"/>
          <p:nvPr/>
        </p:nvSpPr>
        <p:spPr>
          <a:xfrm>
            <a:off x="8092440" y="4526279"/>
            <a:ext cx="3291840" cy="256032"/>
          </a:xfrm>
          <a:prstGeom prst="rect">
            <a:avLst/>
          </a:prstGeom>
          <a:noFill/>
        </p:spPr>
        <p:txBody>
          <a:bodyPr wrap="square" lIns="0" rIns="0" tIns="0" bIns="0" anchor="t">
            <a:spAutoFit/>
          </a:bodyPr>
          <a:lstStyle/>
          <a:p>
            <a:pPr algn="l">
              <a:lnSpc>
                <a:spcPct val="100000"/>
              </a:lnSpc>
            </a:pPr>
            <a:r>
              <a:rPr sz="1200" b="1">
                <a:solidFill>
                  <a:srgbClr val="595959"/>
                </a:solidFill>
                <a:latin typeface="Arial"/>
              </a:rPr>
              <a:t>CNN joint</a:t>
            </a:r>
          </a:p>
        </p:txBody>
      </p:sp>
      <p:sp>
        <p:nvSpPr>
          <p:cNvPr id="15" name="TextBox 14"/>
          <p:cNvSpPr txBox="1"/>
          <p:nvPr/>
        </p:nvSpPr>
        <p:spPr>
          <a:xfrm>
            <a:off x="8092440" y="4773167"/>
            <a:ext cx="3291840" cy="320040"/>
          </a:xfrm>
          <a:prstGeom prst="rect">
            <a:avLst/>
          </a:prstGeom>
          <a:noFill/>
        </p:spPr>
        <p:txBody>
          <a:bodyPr wrap="square" lIns="0" rIns="0" tIns="0" bIns="0" anchor="t">
            <a:spAutoFit/>
          </a:bodyPr>
          <a:lstStyle/>
          <a:p>
            <a:pPr algn="l">
              <a:lnSpc>
                <a:spcPct val="100000"/>
              </a:lnSpc>
            </a:pPr>
            <a:r>
              <a:rPr sz="1600" b="1">
                <a:solidFill>
                  <a:srgbClr val="1F3864"/>
                </a:solidFill>
                <a:latin typeface="Arial"/>
              </a:rPr>
              <a:t>zero in 8 / 10 cities</a:t>
            </a:r>
          </a:p>
        </p:txBody>
      </p:sp>
      <p:sp>
        <p:nvSpPr>
          <p:cNvPr id="16" name="TextBox 15"/>
          <p:cNvSpPr txBox="1"/>
          <p:nvPr/>
        </p:nvSpPr>
        <p:spPr>
          <a:xfrm>
            <a:off x="8092440" y="5257800"/>
            <a:ext cx="3246120" cy="594360"/>
          </a:xfrm>
          <a:prstGeom prst="rect">
            <a:avLst/>
          </a:prstGeom>
          <a:noFill/>
        </p:spPr>
        <p:txBody>
          <a:bodyPr wrap="square" lIns="0" rIns="0" tIns="0" bIns="0" anchor="t">
            <a:spAutoFit/>
          </a:bodyPr>
          <a:lstStyle/>
          <a:p>
            <a:pPr algn="l">
              <a:lnSpc>
                <a:spcPct val="115000"/>
              </a:lnSpc>
            </a:pPr>
            <a:r>
              <a:rPr sz="1050" b="0">
                <a:solidFill>
                  <a:srgbClr val="595959"/>
                </a:solidFill>
                <a:latin typeface="Arial"/>
              </a:rPr>
              <a:t>Descriptive ranges; ten cities. Intervals resample cities or pixels, not training runs.</a:t>
            </a:r>
          </a:p>
        </p:txBody>
      </p:sp>
      <p:sp>
        <p:nvSpPr>
          <p:cNvPr id="17" name="Rectangle 16"/>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9" name="TextBox 18"/>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INTERPRETATION</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3000" b="1">
                <a:solidFill>
                  <a:srgbClr val="1F3864"/>
                </a:solidFill>
                <a:latin typeface="Arial"/>
              </a:rPr>
              <a:t>Test the resolution path you will deploy</a:t>
            </a:r>
          </a:p>
        </p:txBody>
      </p:sp>
      <p:sp>
        <p:nvSpPr>
          <p:cNvPr id="5" name="Oval 4"/>
          <p:cNvSpPr/>
          <p:nvPr/>
        </p:nvSpPr>
        <p:spPr>
          <a:xfrm>
            <a:off x="731520" y="1691640"/>
            <a:ext cx="585216" cy="585216"/>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19656"/>
            <a:ext cx="585216" cy="274320"/>
          </a:xfrm>
          <a:prstGeom prst="rect">
            <a:avLst/>
          </a:prstGeom>
          <a:noFill/>
        </p:spPr>
        <p:txBody>
          <a:bodyPr wrap="square" lIns="0" rIns="0" tIns="0" bIns="0" anchor="t">
            <a:spAutoFit/>
          </a:bodyPr>
          <a:lstStyle/>
          <a:p>
            <a:pPr algn="ctr">
              <a:lnSpc>
                <a:spcPct val="100000"/>
              </a:lnSpc>
            </a:pPr>
            <a:r>
              <a:rPr sz="1700" b="1">
                <a:solidFill>
                  <a:srgbClr val="FFFFFF"/>
                </a:solidFill>
                <a:latin typeface="Arial"/>
              </a:rPr>
              <a:t>1</a:t>
            </a:r>
          </a:p>
        </p:txBody>
      </p:sp>
      <p:sp>
        <p:nvSpPr>
          <p:cNvPr id="7" name="TextBox 6"/>
          <p:cNvSpPr txBox="1"/>
          <p:nvPr/>
        </p:nvSpPr>
        <p:spPr>
          <a:xfrm>
            <a:off x="1600200" y="1673352"/>
            <a:ext cx="9784080" cy="365760"/>
          </a:xfrm>
          <a:prstGeom prst="rect">
            <a:avLst/>
          </a:prstGeom>
          <a:noFill/>
        </p:spPr>
        <p:txBody>
          <a:bodyPr wrap="square" lIns="0" rIns="0" tIns="0" bIns="0" anchor="t">
            <a:spAutoFit/>
          </a:bodyPr>
          <a:lstStyle/>
          <a:p>
            <a:pPr algn="l">
              <a:lnSpc>
                <a:spcPct val="100000"/>
              </a:lnSpc>
            </a:pPr>
            <a:r>
              <a:rPr sz="2000" b="1">
                <a:solidFill>
                  <a:srgbClr val="1F3864"/>
                </a:solidFill>
                <a:latin typeface="Arial"/>
              </a:rPr>
              <a:t>Test the deployed resolution path.</a:t>
            </a:r>
          </a:p>
        </p:txBody>
      </p:sp>
      <p:sp>
        <p:nvSpPr>
          <p:cNvPr id="8" name="TextBox 7"/>
          <p:cNvSpPr txBox="1"/>
          <p:nvPr/>
        </p:nvSpPr>
        <p:spPr>
          <a:xfrm>
            <a:off x="1600200" y="2057400"/>
            <a:ext cx="9784080" cy="320040"/>
          </a:xfrm>
          <a:prstGeom prst="rect">
            <a:avLst/>
          </a:prstGeom>
          <a:noFill/>
        </p:spPr>
        <p:txBody>
          <a:bodyPr wrap="square" lIns="0" rIns="0" tIns="0" bIns="0" anchor="t">
            <a:spAutoFit/>
          </a:bodyPr>
          <a:lstStyle/>
          <a:p>
            <a:pPr algn="l">
              <a:lnSpc>
                <a:spcPct val="100000"/>
              </a:lnSpc>
            </a:pPr>
            <a:r>
              <a:rPr sz="1500" b="0">
                <a:solidFill>
                  <a:srgbClr val="595959"/>
                </a:solidFill>
                <a:latin typeface="Arial"/>
              </a:rPr>
              <a:t>A native-resolution benchmark score does not reveal coarse-resolution failure.</a:t>
            </a:r>
          </a:p>
        </p:txBody>
      </p:sp>
      <p:sp>
        <p:nvSpPr>
          <p:cNvPr id="9" name="Oval 8"/>
          <p:cNvSpPr/>
          <p:nvPr/>
        </p:nvSpPr>
        <p:spPr>
          <a:xfrm>
            <a:off x="731520" y="3017520"/>
            <a:ext cx="585216" cy="585216"/>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45536"/>
            <a:ext cx="585216" cy="274320"/>
          </a:xfrm>
          <a:prstGeom prst="rect">
            <a:avLst/>
          </a:prstGeom>
          <a:noFill/>
        </p:spPr>
        <p:txBody>
          <a:bodyPr wrap="square" lIns="0" rIns="0" tIns="0" bIns="0" anchor="t">
            <a:spAutoFit/>
          </a:bodyPr>
          <a:lstStyle/>
          <a:p>
            <a:pPr algn="ctr">
              <a:lnSpc>
                <a:spcPct val="100000"/>
              </a:lnSpc>
            </a:pPr>
            <a:r>
              <a:rPr sz="1700" b="1">
                <a:solidFill>
                  <a:srgbClr val="FFFFFF"/>
                </a:solidFill>
                <a:latin typeface="Arial"/>
              </a:rPr>
              <a:t>2</a:t>
            </a:r>
          </a:p>
        </p:txBody>
      </p:sp>
      <p:sp>
        <p:nvSpPr>
          <p:cNvPr id="11" name="TextBox 10"/>
          <p:cNvSpPr txBox="1"/>
          <p:nvPr/>
        </p:nvSpPr>
        <p:spPr>
          <a:xfrm>
            <a:off x="1600200" y="2999232"/>
            <a:ext cx="9784080" cy="365760"/>
          </a:xfrm>
          <a:prstGeom prst="rect">
            <a:avLst/>
          </a:prstGeom>
          <a:noFill/>
        </p:spPr>
        <p:txBody>
          <a:bodyPr wrap="square" lIns="0" rIns="0" tIns="0" bIns="0" anchor="t">
            <a:spAutoFit/>
          </a:bodyPr>
          <a:lstStyle/>
          <a:p>
            <a:pPr algn="l">
              <a:lnSpc>
                <a:spcPct val="100000"/>
              </a:lnSpc>
            </a:pPr>
            <a:r>
              <a:rPr sz="2000" b="1">
                <a:solidFill>
                  <a:srgbClr val="1F3864"/>
                </a:solidFill>
                <a:latin typeface="Arial"/>
              </a:rPr>
              <a:t>Report precision with predicted fraction and prevalence.</a:t>
            </a:r>
          </a:p>
        </p:txBody>
      </p:sp>
      <p:sp>
        <p:nvSpPr>
          <p:cNvPr id="12" name="TextBox 11"/>
          <p:cNvSpPr txBox="1"/>
          <p:nvPr/>
        </p:nvSpPr>
        <p:spPr>
          <a:xfrm>
            <a:off x="1600200" y="3383279"/>
            <a:ext cx="9784080" cy="320040"/>
          </a:xfrm>
          <a:prstGeom prst="rect">
            <a:avLst/>
          </a:prstGeom>
          <a:noFill/>
        </p:spPr>
        <p:txBody>
          <a:bodyPr wrap="square" lIns="0" rIns="0" tIns="0" bIns="0" anchor="t">
            <a:spAutoFit/>
          </a:bodyPr>
          <a:lstStyle/>
          <a:p>
            <a:pPr algn="l">
              <a:lnSpc>
                <a:spcPct val="100000"/>
              </a:lnSpc>
            </a:pPr>
            <a:r>
              <a:rPr sz="1500" b="0">
                <a:solidFill>
                  <a:srgbClr val="595959"/>
                </a:solidFill>
                <a:latin typeface="Arial"/>
              </a:rPr>
              <a:t>99.47% precision meant 0.068% of pixels predicted changed.</a:t>
            </a:r>
          </a:p>
        </p:txBody>
      </p:sp>
      <p:sp>
        <p:nvSpPr>
          <p:cNvPr id="13" name="Oval 12"/>
          <p:cNvSpPr/>
          <p:nvPr/>
        </p:nvSpPr>
        <p:spPr>
          <a:xfrm>
            <a:off x="731520" y="4343400"/>
            <a:ext cx="585216" cy="585216"/>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471416"/>
            <a:ext cx="585216" cy="274320"/>
          </a:xfrm>
          <a:prstGeom prst="rect">
            <a:avLst/>
          </a:prstGeom>
          <a:noFill/>
        </p:spPr>
        <p:txBody>
          <a:bodyPr wrap="square" lIns="0" rIns="0" tIns="0" bIns="0" anchor="t">
            <a:spAutoFit/>
          </a:bodyPr>
          <a:lstStyle/>
          <a:p>
            <a:pPr algn="ctr">
              <a:lnSpc>
                <a:spcPct val="100000"/>
              </a:lnSpc>
            </a:pPr>
            <a:r>
              <a:rPr sz="1700" b="1">
                <a:solidFill>
                  <a:srgbClr val="FFFFFF"/>
                </a:solidFill>
                <a:latin typeface="Arial"/>
              </a:rPr>
              <a:t>3</a:t>
            </a:r>
          </a:p>
        </p:txBody>
      </p:sp>
      <p:sp>
        <p:nvSpPr>
          <p:cNvPr id="15" name="TextBox 14"/>
          <p:cNvSpPr txBox="1"/>
          <p:nvPr/>
        </p:nvSpPr>
        <p:spPr>
          <a:xfrm>
            <a:off x="1600200" y="4325112"/>
            <a:ext cx="9784080" cy="365760"/>
          </a:xfrm>
          <a:prstGeom prst="rect">
            <a:avLst/>
          </a:prstGeom>
          <a:noFill/>
        </p:spPr>
        <p:txBody>
          <a:bodyPr wrap="square" lIns="0" rIns="0" tIns="0" bIns="0" anchor="t">
            <a:spAutoFit/>
          </a:bodyPr>
          <a:lstStyle/>
          <a:p>
            <a:pPr algn="l">
              <a:lnSpc>
                <a:spcPct val="100000"/>
              </a:lnSpc>
            </a:pPr>
            <a:r>
              <a:rPr sz="2000" b="1">
                <a:solidFill>
                  <a:srgbClr val="1F3864"/>
                </a:solidFill>
                <a:latin typeface="Arial"/>
              </a:rPr>
              <a:t>Do not treat simple indices as a validated fallback.</a:t>
            </a:r>
          </a:p>
        </p:txBody>
      </p:sp>
      <p:sp>
        <p:nvSpPr>
          <p:cNvPr id="16" name="TextBox 15"/>
          <p:cNvSpPr txBox="1"/>
          <p:nvPr/>
        </p:nvSpPr>
        <p:spPr>
          <a:xfrm>
            <a:off x="1600200" y="4709160"/>
            <a:ext cx="9784080" cy="320040"/>
          </a:xfrm>
          <a:prstGeom prst="rect">
            <a:avLst/>
          </a:prstGeom>
          <a:noFill/>
        </p:spPr>
        <p:txBody>
          <a:bodyPr wrap="square" lIns="0" rIns="0" tIns="0" bIns="0" anchor="t">
            <a:spAutoFit/>
          </a:bodyPr>
          <a:lstStyle/>
          <a:p>
            <a:pPr algn="l">
              <a:lnSpc>
                <a:spcPct val="100000"/>
              </a:lnSpc>
            </a:pPr>
            <a:r>
              <a:rPr sz="1500" b="0">
                <a:solidFill>
                  <a:srgbClr val="595959"/>
                </a:solidFill>
                <a:latin typeface="Arial"/>
              </a:rPr>
              <a:t>Both spectral rules under-predict; Otsu predicts 67.35% changed.</a:t>
            </a:r>
          </a:p>
        </p:txBody>
      </p:sp>
      <p:sp>
        <p:nvSpPr>
          <p:cNvPr id="17" name="Rounded Rectangle 16"/>
          <p:cNvSpPr/>
          <p:nvPr/>
        </p:nvSpPr>
        <p:spPr>
          <a:xfrm>
            <a:off x="731520" y="5623560"/>
            <a:ext cx="10881360" cy="502920"/>
          </a:xfrm>
          <a:prstGeom prst="roundRect">
            <a:avLst>
              <a:gd name="adj" fmla="val 6000"/>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733288"/>
            <a:ext cx="10424160" cy="274320"/>
          </a:xfrm>
          <a:prstGeom prst="rect">
            <a:avLst/>
          </a:prstGeom>
          <a:noFill/>
        </p:spPr>
        <p:txBody>
          <a:bodyPr wrap="square" lIns="0" rIns="0" tIns="0" bIns="0" anchor="t">
            <a:spAutoFit/>
          </a:bodyPr>
          <a:lstStyle/>
          <a:p>
            <a:pPr algn="l">
              <a:lnSpc>
                <a:spcPct val="100000"/>
              </a:lnSpc>
            </a:pPr>
            <a:r>
              <a:rPr sz="1600" b="1">
                <a:solidFill>
                  <a:srgbClr val="1F3864"/>
                </a:solidFill>
                <a:latin typeface="Arial"/>
              </a:rPr>
              <a:t>The paper identifies a risk in evaluation, not a new detector.</a:t>
            </a:r>
          </a:p>
        </p:txBody>
      </p:sp>
      <p:sp>
        <p:nvSpPr>
          <p:cNvPr id="19" name="Rectangle 18"/>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21" name="TextBox 20"/>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WHAT THIS DOES NOT SHOW</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2800" b="1">
                <a:solidFill>
                  <a:srgbClr val="1F3864"/>
                </a:solidFill>
                <a:latin typeface="Arial"/>
              </a:rPr>
              <a:t>One checkpoint, one synthetic degradation, a used test split</a:t>
            </a:r>
          </a:p>
        </p:txBody>
      </p:sp>
      <p:sp>
        <p:nvSpPr>
          <p:cNvPr id="5" name="TextBox 4"/>
          <p:cNvSpPr txBox="1"/>
          <p:nvPr/>
        </p:nvSpPr>
        <p:spPr>
          <a:xfrm>
            <a:off x="731520" y="1645920"/>
            <a:ext cx="6675120" cy="4023360"/>
          </a:xfrm>
          <a:prstGeom prst="rect">
            <a:avLst/>
          </a:prstGeom>
          <a:noFill/>
        </p:spPr>
        <p:txBody>
          <a:bodyPr wrap="square" lIns="0" rIns="0" tIns="0" bIns="0">
            <a:spAutoFit/>
          </a:bodyPr>
          <a:lstStyle/>
          <a:p>
            <a:pPr>
              <a:lnSpc>
                <a:spcPct val="105000"/>
              </a:lnSpc>
              <a:spcAft>
                <a:spcPts val="1600"/>
              </a:spcAft>
            </a:pPr>
            <a:r>
              <a:rPr sz="1700" b="1">
                <a:solidFill>
                  <a:srgbClr val="C55A11"/>
                </a:solidFill>
                <a:latin typeface="Arial"/>
              </a:rPr>
              <a:t>•  </a:t>
            </a:r>
            <a:r>
              <a:rPr sz="1700">
                <a:solidFill>
                  <a:srgbClr val="262626"/>
                </a:solidFill>
                <a:latin typeface="Arial"/>
              </a:rPr>
              <a:t>One architecture and one training run; no retraining or seed variation.</a:t>
            </a:r>
          </a:p>
          <a:p>
            <a:pPr>
              <a:lnSpc>
                <a:spcPct val="105000"/>
              </a:lnSpc>
              <a:spcAft>
                <a:spcPts val="1600"/>
              </a:spcAft>
            </a:pPr>
            <a:r>
              <a:rPr sz="1700" b="1">
                <a:solidFill>
                  <a:srgbClr val="C55A11"/>
                </a:solidFill>
                <a:latin typeface="Arial"/>
              </a:rPr>
              <a:t>•  </a:t>
            </a:r>
            <a:r>
              <a:rPr sz="1700">
                <a:solidFill>
                  <a:srgbClr val="262626"/>
                </a:solidFill>
                <a:latin typeface="Arial"/>
              </a:rPr>
              <a:t>Synthetic degradation: no spectra, atmosphere, mixed pixels or noise.</a:t>
            </a:r>
          </a:p>
          <a:p>
            <a:pPr>
              <a:lnSpc>
                <a:spcPct val="105000"/>
              </a:lnSpc>
              <a:spcAft>
                <a:spcPts val="1600"/>
              </a:spcAft>
            </a:pPr>
            <a:r>
              <a:rPr sz="1700" b="1">
                <a:solidFill>
                  <a:srgbClr val="C55A11"/>
                </a:solidFill>
                <a:latin typeface="Arial"/>
              </a:rPr>
              <a:t>•  </a:t>
            </a:r>
            <a:r>
              <a:rPr sz="1700">
                <a:solidFill>
                  <a:srgbClr val="262626"/>
                </a:solidFill>
                <a:latin typeface="Arial"/>
              </a:rPr>
              <a:t>OSCD confounds resolution with sensor, geography and season; no SCL.</a:t>
            </a:r>
          </a:p>
          <a:p>
            <a:pPr>
              <a:lnSpc>
                <a:spcPct val="105000"/>
              </a:lnSpc>
              <a:spcAft>
                <a:spcPts val="1600"/>
              </a:spcAft>
            </a:pPr>
            <a:r>
              <a:rPr sz="1700" b="1">
                <a:solidFill>
                  <a:srgbClr val="C55A11"/>
                </a:solidFill>
                <a:latin typeface="Arial"/>
              </a:rPr>
              <a:t>•  </a:t>
            </a:r>
            <a:r>
              <a:rPr sz="1700">
                <a:solidFill>
                  <a:srgbClr val="262626"/>
                </a:solidFill>
                <a:latin typeface="Arial"/>
              </a:rPr>
              <a:t>Ten cities; the test split had been scored before the reported run.</a:t>
            </a:r>
          </a:p>
          <a:p>
            <a:pPr>
              <a:lnSpc>
                <a:spcPct val="105000"/>
              </a:lnSpc>
              <a:spcAft>
                <a:spcPts val="1600"/>
              </a:spcAft>
            </a:pPr>
            <a:r>
              <a:rPr sz="1700" b="1">
                <a:solidFill>
                  <a:srgbClr val="C55A11"/>
                </a:solidFill>
                <a:latin typeface="Arial"/>
              </a:rPr>
              <a:t>•  </a:t>
            </a:r>
            <a:r>
              <a:rPr sz="1700">
                <a:solidFill>
                  <a:srgbClr val="262626"/>
                </a:solidFill>
                <a:latin typeface="Arial"/>
              </a:rPr>
              <a:t>The deployed app and scene selection are not validated end to end.</a:t>
            </a:r>
          </a:p>
        </p:txBody>
      </p:sp>
      <p:sp>
        <p:nvSpPr>
          <p:cNvPr id="6" name="Rounded Rectangle 5"/>
          <p:cNvSpPr/>
          <p:nvPr/>
        </p:nvSpPr>
        <p:spPr>
          <a:xfrm>
            <a:off x="7680960" y="1691640"/>
            <a:ext cx="3931920" cy="3017520"/>
          </a:xfrm>
          <a:prstGeom prst="roundRect">
            <a:avLst>
              <a:gd name="adj" fmla="val 6000"/>
            </a:avLst>
          </a:prstGeom>
          <a:solidFill>
            <a:srgbClr val="FBE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920240"/>
            <a:ext cx="3291840" cy="32004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CLAIM BOUNDARY</a:t>
            </a:r>
          </a:p>
        </p:txBody>
      </p:sp>
      <p:sp>
        <p:nvSpPr>
          <p:cNvPr id="8" name="TextBox 7"/>
          <p:cNvSpPr txBox="1"/>
          <p:nvPr/>
        </p:nvSpPr>
        <p:spPr>
          <a:xfrm>
            <a:off x="8001000" y="2331720"/>
            <a:ext cx="3291840" cy="2011680"/>
          </a:xfrm>
          <a:prstGeom prst="rect">
            <a:avLst/>
          </a:prstGeom>
          <a:noFill/>
        </p:spPr>
        <p:txBody>
          <a:bodyPr wrap="square" lIns="0" rIns="0" tIns="0" bIns="0" anchor="t">
            <a:spAutoFit/>
          </a:bodyPr>
          <a:lstStyle/>
          <a:p>
            <a:pPr algn="l">
              <a:lnSpc>
                <a:spcPct val="100000"/>
              </a:lnSpc>
            </a:pPr>
            <a:r>
              <a:rPr sz="1800" b="1">
                <a:solidFill>
                  <a:srgbClr val="1F3864"/>
                </a:solidFill>
                <a:latin typeface="Arial"/>
              </a:rPr>
              <a:t>No causal claim
about the Sentinel-2 gap
No priority claim
No operational claim</a:t>
            </a:r>
          </a:p>
        </p:txBody>
      </p:sp>
      <p:sp>
        <p:nvSpPr>
          <p:cNvPr id="9" name="TextBox 8"/>
          <p:cNvSpPr txBox="1"/>
          <p:nvPr/>
        </p:nvSpPr>
        <p:spPr>
          <a:xfrm>
            <a:off x="8001000" y="4892040"/>
            <a:ext cx="3291840" cy="73152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The paper reports descriptive evidence, not a validated system.</a:t>
            </a:r>
          </a:p>
        </p:txBody>
      </p:sp>
      <p:sp>
        <p:nvSpPr>
          <p:cNvPr id="10" name="Rectangle 9"/>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2" name="TextBox 11"/>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73152" cy="786384"/>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789920" cy="274320"/>
          </a:xfrm>
          <a:prstGeom prst="rect">
            <a:avLst/>
          </a:prstGeom>
          <a:noFill/>
        </p:spPr>
        <p:txBody>
          <a:bodyPr wrap="square" lIns="0" rIns="0" tIns="0" bIns="0" anchor="t">
            <a:spAutoFit/>
          </a:bodyPr>
          <a:lstStyle/>
          <a:p>
            <a:pPr algn="l">
              <a:lnSpc>
                <a:spcPct val="100000"/>
              </a:lnSpc>
            </a:pPr>
            <a:r>
              <a:rPr sz="1100" b="1">
                <a:solidFill>
                  <a:srgbClr val="C55A11"/>
                </a:solidFill>
                <a:latin typeface="Arial"/>
              </a:rPr>
              <a:t>NEXT EVIDENCE</a:t>
            </a:r>
          </a:p>
        </p:txBody>
      </p:sp>
      <p:sp>
        <p:nvSpPr>
          <p:cNvPr id="4" name="TextBox 3"/>
          <p:cNvSpPr txBox="1"/>
          <p:nvPr/>
        </p:nvSpPr>
        <p:spPr>
          <a:xfrm>
            <a:off x="731520" y="594360"/>
            <a:ext cx="10881360" cy="822960"/>
          </a:xfrm>
          <a:prstGeom prst="rect">
            <a:avLst/>
          </a:prstGeom>
          <a:noFill/>
        </p:spPr>
        <p:txBody>
          <a:bodyPr wrap="square" lIns="0" rIns="0" tIns="0" bIns="0" anchor="t">
            <a:spAutoFit/>
          </a:bodyPr>
          <a:lstStyle/>
          <a:p>
            <a:pPr algn="l">
              <a:lnSpc>
                <a:spcPct val="100000"/>
              </a:lnSpc>
            </a:pPr>
            <a:r>
              <a:rPr sz="3000" b="1">
                <a:solidFill>
                  <a:srgbClr val="1F3864"/>
                </a:solidFill>
                <a:latin typeface="Arial"/>
              </a:rPr>
              <a:t>What would make the result stronger</a:t>
            </a:r>
          </a:p>
        </p:txBody>
      </p:sp>
      <p:sp>
        <p:nvSpPr>
          <p:cNvPr id="5" name="Rounded Rectangle 4"/>
          <p:cNvSpPr/>
          <p:nvPr/>
        </p:nvSpPr>
        <p:spPr>
          <a:xfrm>
            <a:off x="640080" y="1645920"/>
            <a:ext cx="5303520" cy="13716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411480" cy="320040"/>
          </a:xfrm>
          <a:prstGeom prst="rect">
            <a:avLst/>
          </a:prstGeom>
          <a:noFill/>
        </p:spPr>
        <p:txBody>
          <a:bodyPr wrap="square" lIns="0" rIns="0" tIns="0" bIns="0" anchor="t">
            <a:spAutoFit/>
          </a:bodyPr>
          <a:lstStyle/>
          <a:p>
            <a:pPr algn="l">
              <a:lnSpc>
                <a:spcPct val="100000"/>
              </a:lnSpc>
            </a:pPr>
            <a:r>
              <a:rPr sz="1700" b="1">
                <a:solidFill>
                  <a:srgbClr val="2E75B6"/>
                </a:solidFill>
                <a:latin typeface="Arial"/>
              </a:rPr>
              <a:t>1</a:t>
            </a:r>
          </a:p>
        </p:txBody>
      </p:sp>
      <p:sp>
        <p:nvSpPr>
          <p:cNvPr id="7" name="TextBox 6"/>
          <p:cNvSpPr txBox="1"/>
          <p:nvPr/>
        </p:nvSpPr>
        <p:spPr>
          <a:xfrm>
            <a:off x="1371600" y="1828800"/>
            <a:ext cx="4297680" cy="1005840"/>
          </a:xfrm>
          <a:prstGeom prst="rect">
            <a:avLst/>
          </a:prstGeom>
          <a:noFill/>
        </p:spPr>
        <p:txBody>
          <a:bodyPr wrap="square" lIns="0" rIns="0" tIns="0" bIns="0" anchor="t">
            <a:spAutoFit/>
          </a:bodyPr>
          <a:lstStyle/>
          <a:p>
            <a:pPr algn="l">
              <a:lnSpc>
                <a:spcPct val="105000"/>
              </a:lnSpc>
            </a:pPr>
            <a:r>
              <a:rPr sz="1700" b="1">
                <a:solidFill>
                  <a:srgbClr val="1F3864"/>
                </a:solidFill>
                <a:latin typeface="Arial"/>
              </a:rPr>
              <a:t>A second architecture and checkpoint, with multiple seeds.</a:t>
            </a:r>
          </a:p>
        </p:txBody>
      </p:sp>
      <p:sp>
        <p:nvSpPr>
          <p:cNvPr id="8" name="Rounded Rectangle 7"/>
          <p:cNvSpPr/>
          <p:nvPr/>
        </p:nvSpPr>
        <p:spPr>
          <a:xfrm>
            <a:off x="6217920" y="1645920"/>
            <a:ext cx="5303520" cy="13716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411480" cy="320040"/>
          </a:xfrm>
          <a:prstGeom prst="rect">
            <a:avLst/>
          </a:prstGeom>
          <a:noFill/>
        </p:spPr>
        <p:txBody>
          <a:bodyPr wrap="square" lIns="0" rIns="0" tIns="0" bIns="0" anchor="t">
            <a:spAutoFit/>
          </a:bodyPr>
          <a:lstStyle/>
          <a:p>
            <a:pPr algn="l">
              <a:lnSpc>
                <a:spcPct val="100000"/>
              </a:lnSpc>
            </a:pPr>
            <a:r>
              <a:rPr sz="1700" b="1">
                <a:solidFill>
                  <a:srgbClr val="2E75B6"/>
                </a:solidFill>
                <a:latin typeface="Arial"/>
              </a:rPr>
              <a:t>2</a:t>
            </a:r>
          </a:p>
        </p:txBody>
      </p:sp>
      <p:sp>
        <p:nvSpPr>
          <p:cNvPr id="10" name="TextBox 9"/>
          <p:cNvSpPr txBox="1"/>
          <p:nvPr/>
        </p:nvSpPr>
        <p:spPr>
          <a:xfrm>
            <a:off x="6949440" y="1828800"/>
            <a:ext cx="4297680" cy="1005840"/>
          </a:xfrm>
          <a:prstGeom prst="rect">
            <a:avLst/>
          </a:prstGeom>
          <a:noFill/>
        </p:spPr>
        <p:txBody>
          <a:bodyPr wrap="square" lIns="0" rIns="0" tIns="0" bIns="0" anchor="t">
            <a:spAutoFit/>
          </a:bodyPr>
          <a:lstStyle/>
          <a:p>
            <a:pPr algn="l">
              <a:lnSpc>
                <a:spcPct val="105000"/>
              </a:lnSpc>
            </a:pPr>
            <a:r>
              <a:rPr sz="1700" b="1">
                <a:solidFill>
                  <a:srgbClr val="1F3864"/>
                </a:solidFill>
                <a:latin typeface="Arial"/>
              </a:rPr>
              <a:t>Real same-scene acquisitions at multiple resolutions.</a:t>
            </a:r>
          </a:p>
        </p:txBody>
      </p:sp>
      <p:sp>
        <p:nvSpPr>
          <p:cNvPr id="11" name="Rounded Rectangle 10"/>
          <p:cNvSpPr/>
          <p:nvPr/>
        </p:nvSpPr>
        <p:spPr>
          <a:xfrm>
            <a:off x="640080" y="3246120"/>
            <a:ext cx="5303520" cy="13716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429000"/>
            <a:ext cx="411480" cy="320040"/>
          </a:xfrm>
          <a:prstGeom prst="rect">
            <a:avLst/>
          </a:prstGeom>
          <a:noFill/>
        </p:spPr>
        <p:txBody>
          <a:bodyPr wrap="square" lIns="0" rIns="0" tIns="0" bIns="0" anchor="t">
            <a:spAutoFit/>
          </a:bodyPr>
          <a:lstStyle/>
          <a:p>
            <a:pPr algn="l">
              <a:lnSpc>
                <a:spcPct val="100000"/>
              </a:lnSpc>
            </a:pPr>
            <a:r>
              <a:rPr sz="1700" b="1">
                <a:solidFill>
                  <a:srgbClr val="2E75B6"/>
                </a:solidFill>
                <a:latin typeface="Arial"/>
              </a:rPr>
              <a:t>3</a:t>
            </a:r>
          </a:p>
        </p:txBody>
      </p:sp>
      <p:sp>
        <p:nvSpPr>
          <p:cNvPr id="13" name="TextBox 12"/>
          <p:cNvSpPr txBox="1"/>
          <p:nvPr/>
        </p:nvSpPr>
        <p:spPr>
          <a:xfrm>
            <a:off x="1371600" y="3429000"/>
            <a:ext cx="4297680" cy="1005840"/>
          </a:xfrm>
          <a:prstGeom prst="rect">
            <a:avLst/>
          </a:prstGeom>
          <a:noFill/>
        </p:spPr>
        <p:txBody>
          <a:bodyPr wrap="square" lIns="0" rIns="0" tIns="0" bIns="0" anchor="t">
            <a:spAutoFit/>
          </a:bodyPr>
          <a:lstStyle/>
          <a:p>
            <a:pPr algn="l">
              <a:lnSpc>
                <a:spcPct val="105000"/>
              </a:lnSpc>
            </a:pPr>
            <a:r>
              <a:rPr sz="1700" b="1">
                <a:solidFill>
                  <a:srgbClr val="1F3864"/>
                </a:solidFill>
                <a:latin typeface="Arial"/>
              </a:rPr>
              <a:t>An untouched city set or a new dataset.</a:t>
            </a:r>
          </a:p>
        </p:txBody>
      </p:sp>
      <p:sp>
        <p:nvSpPr>
          <p:cNvPr id="14" name="Rounded Rectangle 13"/>
          <p:cNvSpPr/>
          <p:nvPr/>
        </p:nvSpPr>
        <p:spPr>
          <a:xfrm>
            <a:off x="6217920" y="3246120"/>
            <a:ext cx="5303520" cy="1371600"/>
          </a:xfrm>
          <a:prstGeom prst="roundRect">
            <a:avLst>
              <a:gd name="adj" fmla="val 6000"/>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3429000"/>
            <a:ext cx="411480" cy="320040"/>
          </a:xfrm>
          <a:prstGeom prst="rect">
            <a:avLst/>
          </a:prstGeom>
          <a:noFill/>
        </p:spPr>
        <p:txBody>
          <a:bodyPr wrap="square" lIns="0" rIns="0" tIns="0" bIns="0" anchor="t">
            <a:spAutoFit/>
          </a:bodyPr>
          <a:lstStyle/>
          <a:p>
            <a:pPr algn="l">
              <a:lnSpc>
                <a:spcPct val="100000"/>
              </a:lnSpc>
            </a:pPr>
            <a:r>
              <a:rPr sz="1700" b="1">
                <a:solidFill>
                  <a:srgbClr val="2E75B6"/>
                </a:solidFill>
                <a:latin typeface="Arial"/>
              </a:rPr>
              <a:t>4</a:t>
            </a:r>
          </a:p>
        </p:txBody>
      </p:sp>
      <p:sp>
        <p:nvSpPr>
          <p:cNvPr id="16" name="TextBox 15"/>
          <p:cNvSpPr txBox="1"/>
          <p:nvPr/>
        </p:nvSpPr>
        <p:spPr>
          <a:xfrm>
            <a:off x="6949440" y="3429000"/>
            <a:ext cx="4297680" cy="1005840"/>
          </a:xfrm>
          <a:prstGeom prst="rect">
            <a:avLst/>
          </a:prstGeom>
          <a:noFill/>
        </p:spPr>
        <p:txBody>
          <a:bodyPr wrap="square" lIns="0" rIns="0" tIns="0" bIns="0" anchor="t">
            <a:spAutoFit/>
          </a:bodyPr>
          <a:lstStyle/>
          <a:p>
            <a:pPr algn="l">
              <a:lnSpc>
                <a:spcPct val="105000"/>
              </a:lnSpc>
            </a:pPr>
            <a:r>
              <a:rPr sz="1700" b="1">
                <a:solidFill>
                  <a:srgbClr val="1F3864"/>
                </a:solidFill>
                <a:latin typeface="Arial"/>
              </a:rPr>
              <a:t>An SCL-preserving benchmark and a wider threshold grid.</a:t>
            </a:r>
          </a:p>
        </p:txBody>
      </p:sp>
      <p:sp>
        <p:nvSpPr>
          <p:cNvPr id="17" name="TextBox 16"/>
          <p:cNvSpPr txBox="1"/>
          <p:nvPr/>
        </p:nvSpPr>
        <p:spPr>
          <a:xfrm>
            <a:off x="640080" y="5074920"/>
            <a:ext cx="10881360" cy="320040"/>
          </a:xfrm>
          <a:prstGeom prst="rect">
            <a:avLst/>
          </a:prstGeom>
          <a:noFill/>
        </p:spPr>
        <p:txBody>
          <a:bodyPr wrap="square" lIns="0" rIns="0" tIns="0" bIns="0" anchor="t">
            <a:spAutoFit/>
          </a:bodyPr>
          <a:lstStyle/>
          <a:p>
            <a:pPr algn="l">
              <a:lnSpc>
                <a:spcPct val="100000"/>
              </a:lnSpc>
            </a:pPr>
            <a:r>
              <a:rPr sz="1500" b="0">
                <a:solidFill>
                  <a:srgbClr val="595959"/>
                </a:solidFill>
                <a:latin typeface="Arial"/>
              </a:rPr>
              <a:t>An operator study on whether warnings change decisions.</a:t>
            </a:r>
          </a:p>
        </p:txBody>
      </p:sp>
      <p:sp>
        <p:nvSpPr>
          <p:cNvPr id="18" name="TextBox 17"/>
          <p:cNvSpPr txBox="1"/>
          <p:nvPr/>
        </p:nvSpPr>
        <p:spPr>
          <a:xfrm>
            <a:off x="640080" y="5623560"/>
            <a:ext cx="10881360" cy="365760"/>
          </a:xfrm>
          <a:prstGeom prst="rect">
            <a:avLst/>
          </a:prstGeom>
          <a:noFill/>
        </p:spPr>
        <p:txBody>
          <a:bodyPr wrap="square" lIns="0" rIns="0" tIns="0" bIns="0" anchor="t">
            <a:spAutoFit/>
          </a:bodyPr>
          <a:lstStyle/>
          <a:p>
            <a:pPr algn="l">
              <a:lnSpc>
                <a:spcPct val="100000"/>
              </a:lnSpc>
            </a:pPr>
            <a:r>
              <a:rPr sz="2000" b="1">
                <a:solidFill>
                  <a:srgbClr val="C55A11"/>
                </a:solidFill>
                <a:latin typeface="Arial"/>
              </a:rPr>
              <a:t>These are evidence needs, not results.</a:t>
            </a:r>
          </a:p>
        </p:txBody>
      </p:sp>
      <p:sp>
        <p:nvSpPr>
          <p:cNvPr id="19" name="Rectangle 18"/>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21" name="TextBox 20"/>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685800"/>
            <a:ext cx="10789920" cy="320040"/>
          </a:xfrm>
          <a:prstGeom prst="rect">
            <a:avLst/>
          </a:prstGeom>
          <a:noFill/>
        </p:spPr>
        <p:txBody>
          <a:bodyPr wrap="square" lIns="0" rIns="0" tIns="0" bIns="0" anchor="t">
            <a:spAutoFit/>
          </a:bodyPr>
          <a:lstStyle/>
          <a:p>
            <a:pPr algn="l">
              <a:lnSpc>
                <a:spcPct val="100000"/>
              </a:lnSpc>
            </a:pPr>
            <a:r>
              <a:rPr sz="1200" b="1">
                <a:solidFill>
                  <a:srgbClr val="C55A11"/>
                </a:solidFill>
                <a:latin typeface="Arial"/>
              </a:rPr>
              <a:t>TAKEAWAY</a:t>
            </a:r>
          </a:p>
        </p:txBody>
      </p:sp>
      <p:sp>
        <p:nvSpPr>
          <p:cNvPr id="3" name="TextBox 2"/>
          <p:cNvSpPr txBox="1"/>
          <p:nvPr/>
        </p:nvSpPr>
        <p:spPr>
          <a:xfrm>
            <a:off x="731520" y="1143000"/>
            <a:ext cx="10789920" cy="1097280"/>
          </a:xfrm>
          <a:prstGeom prst="rect">
            <a:avLst/>
          </a:prstGeom>
          <a:noFill/>
        </p:spPr>
        <p:txBody>
          <a:bodyPr wrap="square" lIns="0" rIns="0" tIns="0" bIns="0" anchor="t">
            <a:spAutoFit/>
          </a:bodyPr>
          <a:lstStyle/>
          <a:p>
            <a:pPr algn="l">
              <a:lnSpc>
                <a:spcPct val="95000"/>
              </a:lnSpc>
            </a:pPr>
            <a:r>
              <a:rPr sz="3800" b="1">
                <a:solidFill>
                  <a:srgbClr val="1F3864"/>
                </a:solidFill>
                <a:latin typeface="Arial"/>
              </a:rPr>
              <a:t>A 0.5 m score is not a 10 m validation.</a:t>
            </a:r>
          </a:p>
        </p:txBody>
      </p:sp>
      <p:sp>
        <p:nvSpPr>
          <p:cNvPr id="4" name="Rounded Rectangle 3"/>
          <p:cNvSpPr/>
          <p:nvPr/>
        </p:nvSpPr>
        <p:spPr>
          <a:xfrm>
            <a:off x="640080" y="2606040"/>
            <a:ext cx="3520440" cy="1600200"/>
          </a:xfrm>
          <a:prstGeom prst="roundRect">
            <a:avLst>
              <a:gd name="adj" fmla="val 6000"/>
            </a:avLst>
          </a:prstGeom>
          <a:solidFill>
            <a:srgbClr val="FFFFFF"/>
          </a:solidFill>
          <a:ln w="12700">
            <a:solidFill>
              <a:srgbClr val="D9E2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61488"/>
            <a:ext cx="3063240" cy="502920"/>
          </a:xfrm>
          <a:prstGeom prst="rect">
            <a:avLst/>
          </a:prstGeom>
          <a:noFill/>
        </p:spPr>
        <p:txBody>
          <a:bodyPr wrap="square" lIns="0" rIns="0" tIns="0" bIns="0" anchor="t">
            <a:spAutoFit/>
          </a:bodyPr>
          <a:lstStyle/>
          <a:p>
            <a:pPr algn="l">
              <a:lnSpc>
                <a:spcPct val="100000"/>
              </a:lnSpc>
            </a:pPr>
            <a:r>
              <a:rPr sz="2200" b="1">
                <a:solidFill>
                  <a:srgbClr val="C55A11"/>
                </a:solidFill>
                <a:latin typeface="Arial"/>
              </a:rPr>
              <a:t>87.06% → 4.41%</a:t>
            </a:r>
          </a:p>
        </p:txBody>
      </p:sp>
      <p:sp>
        <p:nvSpPr>
          <p:cNvPr id="6" name="TextBox 5"/>
          <p:cNvSpPr txBox="1"/>
          <p:nvPr/>
        </p:nvSpPr>
        <p:spPr>
          <a:xfrm>
            <a:off x="868680" y="3337560"/>
            <a:ext cx="3063240" cy="73152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pooled F1 from 0.5 m to 2 m
under blur + resampling</a:t>
            </a:r>
          </a:p>
        </p:txBody>
      </p:sp>
      <p:sp>
        <p:nvSpPr>
          <p:cNvPr id="7" name="Rounded Rectangle 6"/>
          <p:cNvSpPr/>
          <p:nvPr/>
        </p:nvSpPr>
        <p:spPr>
          <a:xfrm>
            <a:off x="4343400" y="2606040"/>
            <a:ext cx="3520440" cy="1600200"/>
          </a:xfrm>
          <a:prstGeom prst="roundRect">
            <a:avLst>
              <a:gd name="adj" fmla="val 6000"/>
            </a:avLst>
          </a:prstGeom>
          <a:solidFill>
            <a:srgbClr val="FFFFFF"/>
          </a:solidFill>
          <a:ln w="12700">
            <a:solidFill>
              <a:srgbClr val="D9E2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761488"/>
            <a:ext cx="3063240" cy="502920"/>
          </a:xfrm>
          <a:prstGeom prst="rect">
            <a:avLst/>
          </a:prstGeom>
          <a:noFill/>
        </p:spPr>
        <p:txBody>
          <a:bodyPr wrap="square" lIns="0" rIns="0" tIns="0" bIns="0" anchor="t">
            <a:spAutoFit/>
          </a:bodyPr>
          <a:lstStyle/>
          <a:p>
            <a:pPr algn="l">
              <a:lnSpc>
                <a:spcPct val="100000"/>
              </a:lnSpc>
            </a:pPr>
            <a:r>
              <a:rPr sz="2200" b="1">
                <a:solidFill>
                  <a:srgbClr val="2E75B6"/>
                </a:solidFill>
                <a:latin typeface="Arial"/>
              </a:rPr>
              <a:t>0.068%</a:t>
            </a:r>
          </a:p>
        </p:txBody>
      </p:sp>
      <p:sp>
        <p:nvSpPr>
          <p:cNvPr id="9" name="TextBox 8"/>
          <p:cNvSpPr txBox="1"/>
          <p:nvPr/>
        </p:nvSpPr>
        <p:spPr>
          <a:xfrm>
            <a:off x="4572000" y="3337560"/>
            <a:ext cx="3063240" cy="73152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of pixels predicted changed at 10 m
91,006 of 134,217,728</a:t>
            </a:r>
          </a:p>
        </p:txBody>
      </p:sp>
      <p:sp>
        <p:nvSpPr>
          <p:cNvPr id="10" name="Rounded Rectangle 9"/>
          <p:cNvSpPr/>
          <p:nvPr/>
        </p:nvSpPr>
        <p:spPr>
          <a:xfrm>
            <a:off x="8046720" y="2606040"/>
            <a:ext cx="3520440" cy="1600200"/>
          </a:xfrm>
          <a:prstGeom prst="roundRect">
            <a:avLst>
              <a:gd name="adj" fmla="val 6000"/>
            </a:avLst>
          </a:prstGeom>
          <a:solidFill>
            <a:srgbClr val="FFFFFF"/>
          </a:solidFill>
          <a:ln w="12700">
            <a:solidFill>
              <a:srgbClr val="D9E2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2761488"/>
            <a:ext cx="3063240" cy="502920"/>
          </a:xfrm>
          <a:prstGeom prst="rect">
            <a:avLst/>
          </a:prstGeom>
          <a:noFill/>
        </p:spPr>
        <p:txBody>
          <a:bodyPr wrap="square" lIns="0" rIns="0" tIns="0" bIns="0" anchor="t">
            <a:spAutoFit/>
          </a:bodyPr>
          <a:lstStyle/>
          <a:p>
            <a:pPr algn="l">
              <a:lnSpc>
                <a:spcPct val="100000"/>
              </a:lnSpc>
            </a:pPr>
            <a:r>
              <a:rPr sz="2200" b="1">
                <a:solidFill>
                  <a:srgbClr val="2F7D7D"/>
                </a:solidFill>
                <a:latin typeface="Arial"/>
              </a:rPr>
              <a:t>924 / 935</a:t>
            </a:r>
          </a:p>
        </p:txBody>
      </p:sp>
      <p:sp>
        <p:nvSpPr>
          <p:cNvPr id="12" name="TextBox 11"/>
          <p:cNvSpPr txBox="1"/>
          <p:nvPr/>
        </p:nvSpPr>
        <p:spPr>
          <a:xfrm>
            <a:off x="8275320" y="3337560"/>
            <a:ext cx="3063240" cy="731520"/>
          </a:xfrm>
          <a:prstGeom prst="rect">
            <a:avLst/>
          </a:prstGeom>
          <a:noFill/>
        </p:spPr>
        <p:txBody>
          <a:bodyPr wrap="square" lIns="0" rIns="0" tIns="0" bIns="0" anchor="t">
            <a:spAutoFit/>
          </a:bodyPr>
          <a:lstStyle/>
          <a:p>
            <a:pPr algn="l">
              <a:lnSpc>
                <a:spcPct val="115000"/>
              </a:lnSpc>
            </a:pPr>
            <a:r>
              <a:rPr sz="1100" b="0">
                <a:solidFill>
                  <a:srgbClr val="595959"/>
                </a:solidFill>
                <a:latin typeface="Arial"/>
              </a:rPr>
              <a:t>changed images with zero
predicted change (98.82%)</a:t>
            </a:r>
          </a:p>
        </p:txBody>
      </p:sp>
      <p:sp>
        <p:nvSpPr>
          <p:cNvPr id="13" name="TextBox 12"/>
          <p:cNvSpPr txBox="1"/>
          <p:nvPr/>
        </p:nvSpPr>
        <p:spPr>
          <a:xfrm>
            <a:off x="731520" y="4709160"/>
            <a:ext cx="10789920" cy="365760"/>
          </a:xfrm>
          <a:prstGeom prst="rect">
            <a:avLst/>
          </a:prstGeom>
          <a:noFill/>
        </p:spPr>
        <p:txBody>
          <a:bodyPr wrap="square" lIns="0" rIns="0" tIns="0" bIns="0" anchor="t">
            <a:spAutoFit/>
          </a:bodyPr>
          <a:lstStyle/>
          <a:p>
            <a:pPr algn="l">
              <a:lnSpc>
                <a:spcPct val="100000"/>
              </a:lnSpc>
            </a:pPr>
            <a:r>
              <a:rPr sz="1700" b="1">
                <a:solidFill>
                  <a:srgbClr val="1F3864"/>
                </a:solidFill>
                <a:latin typeface="Arial"/>
              </a:rPr>
              <a:t>Real OSCD: CNN F1 0.0007  ·  spectral rules 0.078–0.118  ·  neither is a validated fallback.</a:t>
            </a:r>
          </a:p>
        </p:txBody>
      </p:sp>
      <p:sp>
        <p:nvSpPr>
          <p:cNvPr id="14" name="TextBox 13"/>
          <p:cNvSpPr txBox="1"/>
          <p:nvPr/>
        </p:nvSpPr>
        <p:spPr>
          <a:xfrm>
            <a:off x="731520" y="5349240"/>
            <a:ext cx="10789920" cy="320040"/>
          </a:xfrm>
          <a:prstGeom prst="rect">
            <a:avLst/>
          </a:prstGeom>
          <a:noFill/>
        </p:spPr>
        <p:txBody>
          <a:bodyPr wrap="square" lIns="0" rIns="0" tIns="0" bIns="0" anchor="t">
            <a:spAutoFit/>
          </a:bodyPr>
          <a:lstStyle/>
          <a:p>
            <a:pPr algn="l">
              <a:lnSpc>
                <a:spcPct val="100000"/>
              </a:lnSpc>
            </a:pPr>
            <a:r>
              <a:rPr sz="1300" b="0">
                <a:solidFill>
                  <a:srgbClr val="595959"/>
                </a:solidFill>
                <a:latin typeface="Arial"/>
              </a:rPr>
              <a:t>Paper, figures and artifact: TODO — insert verified repository URL and DOI.</a:t>
            </a:r>
          </a:p>
        </p:txBody>
      </p:sp>
      <p:sp>
        <p:nvSpPr>
          <p:cNvPr id="15" name="TextBox 14"/>
          <p:cNvSpPr txBox="1"/>
          <p:nvPr/>
        </p:nvSpPr>
        <p:spPr>
          <a:xfrm>
            <a:off x="731520" y="5715000"/>
            <a:ext cx="10789920" cy="320040"/>
          </a:xfrm>
          <a:prstGeom prst="rect">
            <a:avLst/>
          </a:prstGeom>
          <a:noFill/>
        </p:spPr>
        <p:txBody>
          <a:bodyPr wrap="square" lIns="0" rIns="0" tIns="0" bIns="0" anchor="t">
            <a:spAutoFit/>
          </a:bodyPr>
          <a:lstStyle/>
          <a:p>
            <a:pPr algn="l">
              <a:lnSpc>
                <a:spcPct val="100000"/>
              </a:lnSpc>
            </a:pPr>
            <a:r>
              <a:rPr sz="1300" b="0">
                <a:solidFill>
                  <a:srgbClr val="7F7F7F"/>
                </a:solidFill>
                <a:latin typeface="Arial"/>
              </a:rPr>
              <a:t>Draft; citations and PDF pending.  Thank you.</a:t>
            </a:r>
          </a:p>
        </p:txBody>
      </p:sp>
      <p:sp>
        <p:nvSpPr>
          <p:cNvPr id="16" name="Rectangle 15"/>
          <p:cNvSpPr/>
          <p:nvPr/>
        </p:nvSpPr>
        <p:spPr>
          <a:xfrm>
            <a:off x="502920" y="6437376"/>
            <a:ext cx="11183112" cy="9525"/>
          </a:xfrm>
          <a:prstGeom prst="rect">
            <a:avLst/>
          </a:prstGeom>
          <a:solidFill>
            <a:srgbClr val="D9E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10528"/>
            <a:ext cx="8686800" cy="201168"/>
          </a:xfrm>
          <a:prstGeom prst="rect">
            <a:avLst/>
          </a:prstGeom>
          <a:noFill/>
        </p:spPr>
        <p:txBody>
          <a:bodyPr wrap="square" lIns="0" rIns="0" tIns="0" bIns="0" anchor="t">
            <a:spAutoFit/>
          </a:bodyPr>
          <a:lstStyle/>
          <a:p>
            <a:pPr algn="l">
              <a:lnSpc>
                <a:spcPct val="100000"/>
              </a:lnSpc>
            </a:pPr>
            <a:r>
              <a:rPr sz="900" b="0">
                <a:solidFill>
                  <a:srgbClr val="7F7F7F"/>
                </a:solidFill>
                <a:latin typeface="Arial"/>
              </a:rPr>
              <a:t>Resolution mismatch case study  ·  saved evidence only</a:t>
            </a:r>
          </a:p>
        </p:txBody>
      </p:sp>
      <p:sp>
        <p:nvSpPr>
          <p:cNvPr id="18" name="TextBox 17"/>
          <p:cNvSpPr txBox="1"/>
          <p:nvPr/>
        </p:nvSpPr>
        <p:spPr>
          <a:xfrm>
            <a:off x="10881360" y="6510528"/>
            <a:ext cx="822960" cy="201168"/>
          </a:xfrm>
          <a:prstGeom prst="rect">
            <a:avLst/>
          </a:prstGeom>
          <a:noFill/>
        </p:spPr>
        <p:txBody>
          <a:bodyPr wrap="square" lIns="0" rIns="0" tIns="0" bIns="0" anchor="t">
            <a:spAutoFit/>
          </a:bodyPr>
          <a:lstStyle/>
          <a:p>
            <a:pPr algn="r">
              <a:lnSpc>
                <a:spcPct val="100000"/>
              </a:lnSpc>
            </a:pPr>
            <a:r>
              <a:rPr sz="900" b="0">
                <a:solidFill>
                  <a:srgbClr val="7F7F7F"/>
                </a:solidFill>
                <a:latin typeface="Arial"/>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